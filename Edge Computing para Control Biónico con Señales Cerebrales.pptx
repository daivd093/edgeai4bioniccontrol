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9"/>
  </p:notesMasterIdLst>
  <p:sldIdLst>
    <p:sldId id="256" r:id="rId2"/>
    <p:sldId id="257" r:id="rId3"/>
    <p:sldId id="258" r:id="rId4"/>
    <p:sldId id="275" r:id="rId5"/>
    <p:sldId id="263" r:id="rId6"/>
    <p:sldId id="280" r:id="rId7"/>
    <p:sldId id="300" r:id="rId8"/>
    <p:sldId id="276" r:id="rId9"/>
    <p:sldId id="269" r:id="rId10"/>
    <p:sldId id="270" r:id="rId11"/>
    <p:sldId id="274" r:id="rId12"/>
    <p:sldId id="265" r:id="rId13"/>
    <p:sldId id="277" r:id="rId14"/>
    <p:sldId id="278" r:id="rId15"/>
    <p:sldId id="273" r:id="rId16"/>
    <p:sldId id="291" r:id="rId17"/>
    <p:sldId id="283" r:id="rId18"/>
    <p:sldId id="284" r:id="rId19"/>
    <p:sldId id="285" r:id="rId20"/>
    <p:sldId id="286" r:id="rId21"/>
    <p:sldId id="288" r:id="rId22"/>
    <p:sldId id="290" r:id="rId23"/>
    <p:sldId id="292" r:id="rId24"/>
    <p:sldId id="289" r:id="rId25"/>
    <p:sldId id="294" r:id="rId26"/>
    <p:sldId id="296" r:id="rId27"/>
    <p:sldId id="297" r:id="rId28"/>
    <p:sldId id="298" r:id="rId29"/>
    <p:sldId id="295" r:id="rId30"/>
    <p:sldId id="301" r:id="rId31"/>
    <p:sldId id="271" r:id="rId32"/>
    <p:sldId id="272" r:id="rId33"/>
    <p:sldId id="264" r:id="rId34"/>
    <p:sldId id="266" r:id="rId35"/>
    <p:sldId id="268" r:id="rId36"/>
    <p:sldId id="287" r:id="rId37"/>
    <p:sldId id="293" r:id="rId38"/>
  </p:sldIdLst>
  <p:sldSz cx="12192000" cy="6858000"/>
  <p:notesSz cx="6858000" cy="9144000"/>
  <p:defaultTextStyle>
    <a:defPPr>
      <a:defRPr lang="es-C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428" autoAdjust="0"/>
    <p:restoredTop sz="72645" autoAdjust="0"/>
  </p:normalViewPr>
  <p:slideViewPr>
    <p:cSldViewPr snapToGrid="0">
      <p:cViewPr varScale="1">
        <p:scale>
          <a:sx n="60" d="100"/>
          <a:sy n="60" d="100"/>
        </p:scale>
        <p:origin x="1301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BF0B7FB-DA3D-4DCD-92CE-5515BC2A0FEC}" type="doc">
      <dgm:prSet loTypeId="urn:microsoft.com/office/officeart/2005/8/layout/process1" loCatId="process" qsTypeId="urn:microsoft.com/office/officeart/2005/8/quickstyle/simple1" qsCatId="simple" csTypeId="urn:microsoft.com/office/officeart/2005/8/colors/accent1_2" csCatId="accent1" phldr="1"/>
      <dgm:spPr/>
    </dgm:pt>
    <dgm:pt modelId="{E5C905EA-FF2D-46BF-8669-05EE1915E020}">
      <dgm:prSet phldrT="[Texto]"/>
      <dgm:spPr/>
      <dgm:t>
        <a:bodyPr/>
        <a:lstStyle/>
        <a:p>
          <a:r>
            <a:rPr lang="es-MX" dirty="0"/>
            <a:t>Entrenamiento tradicional</a:t>
          </a:r>
          <a:endParaRPr lang="es-CL" dirty="0"/>
        </a:p>
      </dgm:t>
    </dgm:pt>
    <dgm:pt modelId="{4128E8CC-78AA-45B7-8BA1-82A2B49FD298}" type="parTrans" cxnId="{E19266C1-4804-4D75-AAB6-80135145A043}">
      <dgm:prSet/>
      <dgm:spPr/>
      <dgm:t>
        <a:bodyPr/>
        <a:lstStyle/>
        <a:p>
          <a:endParaRPr lang="es-CL"/>
        </a:p>
      </dgm:t>
    </dgm:pt>
    <dgm:pt modelId="{0C28BC9E-73B5-4DC3-80F7-409B261A2B02}" type="sibTrans" cxnId="{E19266C1-4804-4D75-AAB6-80135145A043}">
      <dgm:prSet/>
      <dgm:spPr/>
      <dgm:t>
        <a:bodyPr/>
        <a:lstStyle/>
        <a:p>
          <a:endParaRPr lang="es-CL"/>
        </a:p>
      </dgm:t>
    </dgm:pt>
    <dgm:pt modelId="{576E78F5-2C1A-489F-B331-AA06D337DBDA}">
      <dgm:prSet phldrT="[Texto]"/>
      <dgm:spPr/>
      <dgm:t>
        <a:bodyPr/>
        <a:lstStyle/>
        <a:p>
          <a:r>
            <a:rPr lang="es-MX" dirty="0"/>
            <a:t>Definición de un </a:t>
          </a:r>
          <a:r>
            <a:rPr lang="es-MX" dirty="0" err="1"/>
            <a:t>dataset</a:t>
          </a:r>
          <a:r>
            <a:rPr lang="es-MX" dirty="0"/>
            <a:t> representativo</a:t>
          </a:r>
          <a:endParaRPr lang="es-CL" dirty="0"/>
        </a:p>
      </dgm:t>
    </dgm:pt>
    <dgm:pt modelId="{D8C6085D-61D3-4D5C-BA95-E1FCF6DB3669}" type="parTrans" cxnId="{C429F160-EB84-4A5E-8A36-EA120ADF90A9}">
      <dgm:prSet/>
      <dgm:spPr/>
      <dgm:t>
        <a:bodyPr/>
        <a:lstStyle/>
        <a:p>
          <a:endParaRPr lang="es-CL"/>
        </a:p>
      </dgm:t>
    </dgm:pt>
    <dgm:pt modelId="{E4808B09-8AAC-4FAA-9DF2-D4C5C1BFC6AC}" type="sibTrans" cxnId="{C429F160-EB84-4A5E-8A36-EA120ADF90A9}">
      <dgm:prSet/>
      <dgm:spPr/>
      <dgm:t>
        <a:bodyPr/>
        <a:lstStyle/>
        <a:p>
          <a:endParaRPr lang="es-CL"/>
        </a:p>
      </dgm:t>
    </dgm:pt>
    <dgm:pt modelId="{B6ACF22C-3E34-43DC-9AD4-08CE792B69FF}">
      <dgm:prSet phldrT="[Texto]"/>
      <dgm:spPr/>
      <dgm:t>
        <a:bodyPr/>
        <a:lstStyle/>
        <a:p>
          <a:r>
            <a:rPr lang="es-MX" dirty="0"/>
            <a:t>Cuantización de los pesos</a:t>
          </a:r>
          <a:endParaRPr lang="es-CL" dirty="0"/>
        </a:p>
      </dgm:t>
    </dgm:pt>
    <dgm:pt modelId="{D7B0D111-37E2-4F5D-9387-63304CEB7E31}" type="parTrans" cxnId="{85FC786F-54B5-4F2C-8C7B-73B1DDE4A8DD}">
      <dgm:prSet/>
      <dgm:spPr/>
      <dgm:t>
        <a:bodyPr/>
        <a:lstStyle/>
        <a:p>
          <a:endParaRPr lang="es-CL"/>
        </a:p>
      </dgm:t>
    </dgm:pt>
    <dgm:pt modelId="{EFDBE9CF-F2CF-4E16-ADD5-D68B0522DFBC}" type="sibTrans" cxnId="{85FC786F-54B5-4F2C-8C7B-73B1DDE4A8DD}">
      <dgm:prSet/>
      <dgm:spPr/>
      <dgm:t>
        <a:bodyPr/>
        <a:lstStyle/>
        <a:p>
          <a:endParaRPr lang="es-CL"/>
        </a:p>
      </dgm:t>
    </dgm:pt>
    <dgm:pt modelId="{2020DAA4-4895-4DA0-99CE-C0E1396164E7}" type="pres">
      <dgm:prSet presAssocID="{BBF0B7FB-DA3D-4DCD-92CE-5515BC2A0FEC}" presName="Name0" presStyleCnt="0">
        <dgm:presLayoutVars>
          <dgm:dir/>
          <dgm:resizeHandles val="exact"/>
        </dgm:presLayoutVars>
      </dgm:prSet>
      <dgm:spPr/>
    </dgm:pt>
    <dgm:pt modelId="{18055A54-E558-4FD9-B50F-54AFFF322322}" type="pres">
      <dgm:prSet presAssocID="{E5C905EA-FF2D-46BF-8669-05EE1915E020}" presName="node" presStyleLbl="node1" presStyleIdx="0" presStyleCnt="3">
        <dgm:presLayoutVars>
          <dgm:bulletEnabled val="1"/>
        </dgm:presLayoutVars>
      </dgm:prSet>
      <dgm:spPr/>
    </dgm:pt>
    <dgm:pt modelId="{EBE4062C-D33A-4911-BBF4-F1C1BC398585}" type="pres">
      <dgm:prSet presAssocID="{0C28BC9E-73B5-4DC3-80F7-409B261A2B02}" presName="sibTrans" presStyleLbl="sibTrans2D1" presStyleIdx="0" presStyleCnt="2"/>
      <dgm:spPr/>
    </dgm:pt>
    <dgm:pt modelId="{60FF4CD8-81DC-4905-ABD4-D43A800B49D3}" type="pres">
      <dgm:prSet presAssocID="{0C28BC9E-73B5-4DC3-80F7-409B261A2B02}" presName="connectorText" presStyleLbl="sibTrans2D1" presStyleIdx="0" presStyleCnt="2"/>
      <dgm:spPr/>
    </dgm:pt>
    <dgm:pt modelId="{DB5B3C18-27D4-4F99-BA0C-4A17568A05B0}" type="pres">
      <dgm:prSet presAssocID="{576E78F5-2C1A-489F-B331-AA06D337DBDA}" presName="node" presStyleLbl="node1" presStyleIdx="1" presStyleCnt="3">
        <dgm:presLayoutVars>
          <dgm:bulletEnabled val="1"/>
        </dgm:presLayoutVars>
      </dgm:prSet>
      <dgm:spPr/>
    </dgm:pt>
    <dgm:pt modelId="{9A339B42-B521-4EEB-8BE5-073F65B5B026}" type="pres">
      <dgm:prSet presAssocID="{E4808B09-8AAC-4FAA-9DF2-D4C5C1BFC6AC}" presName="sibTrans" presStyleLbl="sibTrans2D1" presStyleIdx="1" presStyleCnt="2"/>
      <dgm:spPr/>
    </dgm:pt>
    <dgm:pt modelId="{7DECE3A3-D355-498B-8685-0537F63CC0BB}" type="pres">
      <dgm:prSet presAssocID="{E4808B09-8AAC-4FAA-9DF2-D4C5C1BFC6AC}" presName="connectorText" presStyleLbl="sibTrans2D1" presStyleIdx="1" presStyleCnt="2"/>
      <dgm:spPr/>
    </dgm:pt>
    <dgm:pt modelId="{CA53FA59-2C7E-421B-B440-40591DCCD046}" type="pres">
      <dgm:prSet presAssocID="{B6ACF22C-3E34-43DC-9AD4-08CE792B69FF}" presName="node" presStyleLbl="node1" presStyleIdx="2" presStyleCnt="3">
        <dgm:presLayoutVars>
          <dgm:bulletEnabled val="1"/>
        </dgm:presLayoutVars>
      </dgm:prSet>
      <dgm:spPr/>
    </dgm:pt>
  </dgm:ptLst>
  <dgm:cxnLst>
    <dgm:cxn modelId="{C429F160-EB84-4A5E-8A36-EA120ADF90A9}" srcId="{BBF0B7FB-DA3D-4DCD-92CE-5515BC2A0FEC}" destId="{576E78F5-2C1A-489F-B331-AA06D337DBDA}" srcOrd="1" destOrd="0" parTransId="{D8C6085D-61D3-4D5C-BA95-E1FCF6DB3669}" sibTransId="{E4808B09-8AAC-4FAA-9DF2-D4C5C1BFC6AC}"/>
    <dgm:cxn modelId="{7A2F1F64-AE8F-4C79-8EBC-6A441C67FF37}" type="presOf" srcId="{B6ACF22C-3E34-43DC-9AD4-08CE792B69FF}" destId="{CA53FA59-2C7E-421B-B440-40591DCCD046}" srcOrd="0" destOrd="0" presId="urn:microsoft.com/office/officeart/2005/8/layout/process1"/>
    <dgm:cxn modelId="{FCE2A644-0AB9-4B68-87B3-7A3D6256E365}" type="presOf" srcId="{E5C905EA-FF2D-46BF-8669-05EE1915E020}" destId="{18055A54-E558-4FD9-B50F-54AFFF322322}" srcOrd="0" destOrd="0" presId="urn:microsoft.com/office/officeart/2005/8/layout/process1"/>
    <dgm:cxn modelId="{ADF78C65-C934-47E5-8007-C3E6602B89AD}" type="presOf" srcId="{0C28BC9E-73B5-4DC3-80F7-409B261A2B02}" destId="{60FF4CD8-81DC-4905-ABD4-D43A800B49D3}" srcOrd="1" destOrd="0" presId="urn:microsoft.com/office/officeart/2005/8/layout/process1"/>
    <dgm:cxn modelId="{D050D46B-4982-4E4C-982F-BF1B258ED7DE}" type="presOf" srcId="{576E78F5-2C1A-489F-B331-AA06D337DBDA}" destId="{DB5B3C18-27D4-4F99-BA0C-4A17568A05B0}" srcOrd="0" destOrd="0" presId="urn:microsoft.com/office/officeart/2005/8/layout/process1"/>
    <dgm:cxn modelId="{14C2FF6D-2E8D-49C8-B6E7-FDEA7CBA72B4}" type="presOf" srcId="{E4808B09-8AAC-4FAA-9DF2-D4C5C1BFC6AC}" destId="{9A339B42-B521-4EEB-8BE5-073F65B5B026}" srcOrd="0" destOrd="0" presId="urn:microsoft.com/office/officeart/2005/8/layout/process1"/>
    <dgm:cxn modelId="{85FC786F-54B5-4F2C-8C7B-73B1DDE4A8DD}" srcId="{BBF0B7FB-DA3D-4DCD-92CE-5515BC2A0FEC}" destId="{B6ACF22C-3E34-43DC-9AD4-08CE792B69FF}" srcOrd="2" destOrd="0" parTransId="{D7B0D111-37E2-4F5D-9387-63304CEB7E31}" sibTransId="{EFDBE9CF-F2CF-4E16-ADD5-D68B0522DFBC}"/>
    <dgm:cxn modelId="{034ABEAF-0118-4CF6-84AA-06921497926F}" type="presOf" srcId="{0C28BC9E-73B5-4DC3-80F7-409B261A2B02}" destId="{EBE4062C-D33A-4911-BBF4-F1C1BC398585}" srcOrd="0" destOrd="0" presId="urn:microsoft.com/office/officeart/2005/8/layout/process1"/>
    <dgm:cxn modelId="{61657FBB-0A61-4E5B-A17F-8F77F3796A21}" type="presOf" srcId="{E4808B09-8AAC-4FAA-9DF2-D4C5C1BFC6AC}" destId="{7DECE3A3-D355-498B-8685-0537F63CC0BB}" srcOrd="1" destOrd="0" presId="urn:microsoft.com/office/officeart/2005/8/layout/process1"/>
    <dgm:cxn modelId="{E19266C1-4804-4D75-AAB6-80135145A043}" srcId="{BBF0B7FB-DA3D-4DCD-92CE-5515BC2A0FEC}" destId="{E5C905EA-FF2D-46BF-8669-05EE1915E020}" srcOrd="0" destOrd="0" parTransId="{4128E8CC-78AA-45B7-8BA1-82A2B49FD298}" sibTransId="{0C28BC9E-73B5-4DC3-80F7-409B261A2B02}"/>
    <dgm:cxn modelId="{BA7F15F3-E189-4B5A-8180-B59521C7CCC1}" type="presOf" srcId="{BBF0B7FB-DA3D-4DCD-92CE-5515BC2A0FEC}" destId="{2020DAA4-4895-4DA0-99CE-C0E1396164E7}" srcOrd="0" destOrd="0" presId="urn:microsoft.com/office/officeart/2005/8/layout/process1"/>
    <dgm:cxn modelId="{338370B7-3238-4AE8-9041-D2D3CE5F91B9}" type="presParOf" srcId="{2020DAA4-4895-4DA0-99CE-C0E1396164E7}" destId="{18055A54-E558-4FD9-B50F-54AFFF322322}" srcOrd="0" destOrd="0" presId="urn:microsoft.com/office/officeart/2005/8/layout/process1"/>
    <dgm:cxn modelId="{EE406F12-7009-4DD6-9066-39A93489C952}" type="presParOf" srcId="{2020DAA4-4895-4DA0-99CE-C0E1396164E7}" destId="{EBE4062C-D33A-4911-BBF4-F1C1BC398585}" srcOrd="1" destOrd="0" presId="urn:microsoft.com/office/officeart/2005/8/layout/process1"/>
    <dgm:cxn modelId="{87EA0840-EAF0-485A-8838-99B96B25F99F}" type="presParOf" srcId="{EBE4062C-D33A-4911-BBF4-F1C1BC398585}" destId="{60FF4CD8-81DC-4905-ABD4-D43A800B49D3}" srcOrd="0" destOrd="0" presId="urn:microsoft.com/office/officeart/2005/8/layout/process1"/>
    <dgm:cxn modelId="{C8294E1D-0F90-45CA-9752-49E4656A041D}" type="presParOf" srcId="{2020DAA4-4895-4DA0-99CE-C0E1396164E7}" destId="{DB5B3C18-27D4-4F99-BA0C-4A17568A05B0}" srcOrd="2" destOrd="0" presId="urn:microsoft.com/office/officeart/2005/8/layout/process1"/>
    <dgm:cxn modelId="{B06591FC-A74A-4A0B-9630-446D5DF222C4}" type="presParOf" srcId="{2020DAA4-4895-4DA0-99CE-C0E1396164E7}" destId="{9A339B42-B521-4EEB-8BE5-073F65B5B026}" srcOrd="3" destOrd="0" presId="urn:microsoft.com/office/officeart/2005/8/layout/process1"/>
    <dgm:cxn modelId="{20182BF0-EB1E-4F00-BCBE-3E79717A3C78}" type="presParOf" srcId="{9A339B42-B521-4EEB-8BE5-073F65B5B026}" destId="{7DECE3A3-D355-498B-8685-0537F63CC0BB}" srcOrd="0" destOrd="0" presId="urn:microsoft.com/office/officeart/2005/8/layout/process1"/>
    <dgm:cxn modelId="{8CD0CA1E-2CB9-4555-BC96-7DC246DA0B67}" type="presParOf" srcId="{2020DAA4-4895-4DA0-99CE-C0E1396164E7}" destId="{CA53FA59-2C7E-421B-B440-40591DCCD046}" srcOrd="4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8055A54-E558-4FD9-B50F-54AFFF322322}">
      <dsp:nvSpPr>
        <dsp:cNvPr id="0" name=""/>
        <dsp:cNvSpPr/>
      </dsp:nvSpPr>
      <dsp:spPr>
        <a:xfrm>
          <a:off x="9242" y="1346949"/>
          <a:ext cx="2762398" cy="1657439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2900" kern="1200" dirty="0"/>
            <a:t>Entrenamiento tradicional</a:t>
          </a:r>
          <a:endParaRPr lang="es-CL" sz="2900" kern="1200" dirty="0"/>
        </a:p>
      </dsp:txBody>
      <dsp:txXfrm>
        <a:off x="57787" y="1395494"/>
        <a:ext cx="2665308" cy="1560349"/>
      </dsp:txXfrm>
    </dsp:sp>
    <dsp:sp modelId="{EBE4062C-D33A-4911-BBF4-F1C1BC398585}">
      <dsp:nvSpPr>
        <dsp:cNvPr id="0" name=""/>
        <dsp:cNvSpPr/>
      </dsp:nvSpPr>
      <dsp:spPr>
        <a:xfrm>
          <a:off x="3047880" y="1833131"/>
          <a:ext cx="585628" cy="685074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s-CL" sz="2300" kern="1200"/>
        </a:p>
      </dsp:txBody>
      <dsp:txXfrm>
        <a:off x="3047880" y="1970146"/>
        <a:ext cx="409940" cy="411044"/>
      </dsp:txXfrm>
    </dsp:sp>
    <dsp:sp modelId="{DB5B3C18-27D4-4F99-BA0C-4A17568A05B0}">
      <dsp:nvSpPr>
        <dsp:cNvPr id="0" name=""/>
        <dsp:cNvSpPr/>
      </dsp:nvSpPr>
      <dsp:spPr>
        <a:xfrm>
          <a:off x="3876600" y="1346949"/>
          <a:ext cx="2762398" cy="1657439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2900" kern="1200" dirty="0"/>
            <a:t>Definición de un </a:t>
          </a:r>
          <a:r>
            <a:rPr lang="es-MX" sz="2900" kern="1200" dirty="0" err="1"/>
            <a:t>dataset</a:t>
          </a:r>
          <a:r>
            <a:rPr lang="es-MX" sz="2900" kern="1200" dirty="0"/>
            <a:t> representativo</a:t>
          </a:r>
          <a:endParaRPr lang="es-CL" sz="2900" kern="1200" dirty="0"/>
        </a:p>
      </dsp:txBody>
      <dsp:txXfrm>
        <a:off x="3925145" y="1395494"/>
        <a:ext cx="2665308" cy="1560349"/>
      </dsp:txXfrm>
    </dsp:sp>
    <dsp:sp modelId="{9A339B42-B521-4EEB-8BE5-073F65B5B026}">
      <dsp:nvSpPr>
        <dsp:cNvPr id="0" name=""/>
        <dsp:cNvSpPr/>
      </dsp:nvSpPr>
      <dsp:spPr>
        <a:xfrm>
          <a:off x="6915239" y="1833131"/>
          <a:ext cx="585628" cy="685074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s-CL" sz="2300" kern="1200"/>
        </a:p>
      </dsp:txBody>
      <dsp:txXfrm>
        <a:off x="6915239" y="1970146"/>
        <a:ext cx="409940" cy="411044"/>
      </dsp:txXfrm>
    </dsp:sp>
    <dsp:sp modelId="{CA53FA59-2C7E-421B-B440-40591DCCD046}">
      <dsp:nvSpPr>
        <dsp:cNvPr id="0" name=""/>
        <dsp:cNvSpPr/>
      </dsp:nvSpPr>
      <dsp:spPr>
        <a:xfrm>
          <a:off x="7743958" y="1346949"/>
          <a:ext cx="2762398" cy="1657439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2900" kern="1200" dirty="0"/>
            <a:t>Cuantización de los pesos</a:t>
          </a:r>
          <a:endParaRPr lang="es-CL" sz="2900" kern="1200" dirty="0"/>
        </a:p>
      </dsp:txBody>
      <dsp:txXfrm>
        <a:off x="7792503" y="1395494"/>
        <a:ext cx="2665308" cy="156034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CL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1592A2F-B52E-4030-BCFC-286BC75EA4EE}" type="datetimeFigureOut">
              <a:rPr lang="es-CL" smtClean="0"/>
              <a:t>10-07-2025</a:t>
            </a:fld>
            <a:endParaRPr lang="es-CL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CL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CL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EB734B3-0208-42BD-9373-D31BAA5621B9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248070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sz="1200" dirty="0"/>
              <a:t>3 sujetos con 62, 48 o 64 electrodos y un guante que mide la posición de los dedos.</a:t>
            </a:r>
          </a:p>
          <a:p>
            <a:r>
              <a:rPr lang="es-ES" sz="1200" dirty="0"/>
              <a:t>10 minutos de datos muestreados a 1kHz.</a:t>
            </a:r>
          </a:p>
          <a:p>
            <a:r>
              <a:rPr lang="es-ES" sz="1200" dirty="0"/>
              <a:t>Los primeros 6:40 son para entrenar y se quiere predecir los últimos 3:20</a:t>
            </a:r>
            <a:endParaRPr lang="es-CL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B734B3-0208-42BD-9373-D31BAA5621B9}" type="slidenum">
              <a:rPr lang="es-CL" smtClean="0"/>
              <a:t>9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2092340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 dirty="0"/>
              <a:t>La métrica de éxito de la competencia era el coeficiente de correlación de Pearson</a:t>
            </a:r>
            <a:endParaRPr lang="es-CL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B734B3-0208-42BD-9373-D31BAA5621B9}" type="slidenum">
              <a:rPr lang="es-CL" smtClean="0"/>
              <a:t>10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3044457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 dirty="0"/>
              <a:t>Float32</a:t>
            </a:r>
            <a:br>
              <a:rPr lang="es-MX" dirty="0"/>
            </a:br>
            <a:r>
              <a:rPr lang="es-MX" dirty="0"/>
              <a:t>0,97% Flash</a:t>
            </a:r>
          </a:p>
          <a:p>
            <a:r>
              <a:rPr lang="es-MX" dirty="0"/>
              <a:t>1,48% RAM</a:t>
            </a:r>
          </a:p>
          <a:p>
            <a:endParaRPr lang="es-MX" dirty="0"/>
          </a:p>
          <a:p>
            <a:r>
              <a:rPr lang="es-MX" dirty="0"/>
              <a:t>Int8</a:t>
            </a:r>
          </a:p>
          <a:p>
            <a:r>
              <a:rPr lang="es-CL" dirty="0"/>
              <a:t>1,91% Flash</a:t>
            </a:r>
          </a:p>
          <a:p>
            <a:r>
              <a:rPr lang="es-CL" dirty="0"/>
              <a:t>1,60% RAM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B734B3-0208-42BD-9373-D31BAA5621B9}" type="slidenum">
              <a:rPr lang="es-CL" smtClean="0"/>
              <a:t>17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34551623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A61DFE-6240-5915-0485-904FC3500A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EFFE5424-315B-30D0-F7A4-A3A8A42AA7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C13909B7-8391-2EE1-63C7-86612DE90C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L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B0774064-7E32-2ADD-3415-6B6373E964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B734B3-0208-42BD-9373-D31BAA5621B9}" type="slidenum">
              <a:rPr lang="es-CL" smtClean="0"/>
              <a:t>18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54705034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44770E-E968-625A-37AE-586C0E27F4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40474FFE-5B23-3EA5-26CF-2D125DFF6B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DF0E1980-D4CA-FC05-B804-8392FCF874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 dirty="0"/>
              <a:t>Float32 MAE 0.02560</a:t>
            </a:r>
            <a:br>
              <a:rPr lang="es-MX" dirty="0"/>
            </a:br>
            <a:r>
              <a:rPr lang="es-MX" dirty="0"/>
              <a:t>Int8 MAE 0.02483</a:t>
            </a:r>
          </a:p>
          <a:p>
            <a:endParaRPr lang="es-MX" dirty="0"/>
          </a:p>
          <a:p>
            <a:r>
              <a:rPr lang="es-MX" dirty="0" err="1"/>
              <a:t>Dataset</a:t>
            </a:r>
            <a:r>
              <a:rPr lang="es-MX" dirty="0"/>
              <a:t> representativo</a:t>
            </a:r>
          </a:p>
          <a:p>
            <a:r>
              <a:rPr lang="es-MX" dirty="0"/>
              <a:t>Ruido de cuantización</a:t>
            </a:r>
            <a:endParaRPr lang="es-CL" dirty="0"/>
          </a:p>
          <a:p>
            <a:r>
              <a:rPr lang="es-CL" dirty="0"/>
              <a:t>Cuantización actuando como regularización</a:t>
            </a:r>
            <a:endParaRPr lang="es-MX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B323DB94-C477-171F-416B-4AEBAFAC33D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B734B3-0208-42BD-9373-D31BAA5621B9}" type="slidenum">
              <a:rPr lang="es-CL" smtClean="0"/>
              <a:t>19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45640461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 dirty="0"/>
              <a:t>Ex estudiante de </a:t>
            </a:r>
            <a:r>
              <a:rPr lang="es-CL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University</a:t>
            </a:r>
            <a:r>
              <a:rPr lang="es-CL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s-CL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of</a:t>
            </a:r>
            <a:r>
              <a:rPr lang="es-CL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Pennsylvania</a:t>
            </a:r>
          </a:p>
          <a:p>
            <a:r>
              <a:rPr lang="es-CL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NN </a:t>
            </a:r>
            <a:r>
              <a:rPr lang="es-CL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Fully</a:t>
            </a:r>
            <a:r>
              <a:rPr lang="es-CL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s-CL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connecter</a:t>
            </a:r>
            <a:r>
              <a:rPr lang="es-CL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s-CL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Vanilla</a:t>
            </a:r>
            <a:endParaRPr lang="es-CL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s-CL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 está diseñada para detectar relaciones espaciales ni temporales entre sus entradas, por eso se calcula la matriz de regresores, esta extrae información en frecuencia y concatena cierto número de instantes de tiempo con un </a:t>
            </a:r>
            <a:r>
              <a:rPr lang="es-CL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lag</a:t>
            </a:r>
            <a:r>
              <a:rPr lang="es-CL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para añadir la correlación temporal considerando el </a:t>
            </a:r>
            <a:r>
              <a:rPr lang="es-CL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lag</a:t>
            </a:r>
            <a:r>
              <a:rPr lang="es-CL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del hardware. Por eso para los 62 canales del sujeto 1 tiene 1465 entradas</a:t>
            </a:r>
          </a:p>
          <a:p>
            <a:endParaRPr lang="es-CL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s-CL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s-CL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Para reducir el tamaño de esto se cambia al sujeto 2, con 48 canales tenemos 1153 entradas</a:t>
            </a:r>
            <a:endParaRPr lang="es-CL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B734B3-0208-42BD-9373-D31BAA5621B9}" type="slidenum">
              <a:rPr lang="es-CL" smtClean="0"/>
              <a:t>21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80621145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 dirty="0"/>
              <a:t>Esto es para el sujeto 2, no cuantizado</a:t>
            </a:r>
          </a:p>
          <a:p>
            <a:endParaRPr lang="es-MX" dirty="0"/>
          </a:p>
          <a:p>
            <a:r>
              <a:rPr lang="es-MX" dirty="0"/>
              <a:t>118% de Flash</a:t>
            </a:r>
          </a:p>
          <a:p>
            <a:r>
              <a:rPr lang="es-MX" dirty="0"/>
              <a:t>5.90% de RAM</a:t>
            </a:r>
            <a:endParaRPr lang="es-CL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B734B3-0208-42BD-9373-D31BAA5621B9}" type="slidenum">
              <a:rPr lang="es-CL" smtClean="0"/>
              <a:t>22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77590365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7F92C6-B320-69D5-CA4E-2E4642D373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55241236-5ECF-BE8B-C594-E3ADBCEC5B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0CD3AB61-1EA3-BCDA-A413-3090078509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 dirty="0"/>
              <a:t>Esto es para el sujeto 2, cuantizado</a:t>
            </a:r>
          </a:p>
          <a:p>
            <a:endParaRPr lang="es-MX" dirty="0"/>
          </a:p>
          <a:p>
            <a:r>
              <a:rPr lang="es-MX" dirty="0"/>
              <a:t>31,43% Flash</a:t>
            </a:r>
          </a:p>
          <a:p>
            <a:r>
              <a:rPr lang="es-MX" dirty="0"/>
              <a:t>5,67% RAM</a:t>
            </a:r>
          </a:p>
          <a:p>
            <a:endParaRPr lang="es-MX" dirty="0"/>
          </a:p>
          <a:p>
            <a:r>
              <a:rPr lang="es-MX" dirty="0"/>
              <a:t>Cabrían como mucho 3 dedos, suponiendo que el resto del código no se coma el resto de RAM</a:t>
            </a:r>
            <a:endParaRPr lang="es-CL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BB06F8D6-3F5E-2347-CB6C-E1957E63F55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B734B3-0208-42BD-9373-D31BAA5621B9}" type="slidenum">
              <a:rPr lang="es-CL" smtClean="0"/>
              <a:t>23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07839014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L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B734B3-0208-42BD-9373-D31BAA5621B9}" type="slidenum">
              <a:rPr lang="es-CL" smtClean="0"/>
              <a:t>24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17598610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C0114E-8FDF-4879-CAF9-3C90120755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C9AF9E41-BD44-D170-9E0A-EC25A5A247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C3ADA388-A3D3-314E-A20E-BD3F79DED0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 dirty="0"/>
              <a:t>3,52% RAM por dedo</a:t>
            </a:r>
          </a:p>
          <a:p>
            <a:r>
              <a:rPr lang="es-MX" dirty="0"/>
              <a:t>16,77% Flash por dedo</a:t>
            </a:r>
          </a:p>
          <a:p>
            <a:endParaRPr lang="es-MX" dirty="0"/>
          </a:p>
          <a:p>
            <a:r>
              <a:rPr lang="es-MX" dirty="0"/>
              <a:t>19,15% RAM total</a:t>
            </a:r>
          </a:p>
          <a:p>
            <a:r>
              <a:rPr lang="es-MX" dirty="0"/>
              <a:t>83,86% Flash total</a:t>
            </a:r>
          </a:p>
          <a:p>
            <a:endParaRPr lang="es-MX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DB915E41-ED7C-DAA9-ADEB-9B1CAC64FFF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B734B3-0208-42BD-9373-D31BAA5621B9}" type="slidenum">
              <a:rPr lang="es-CL" smtClean="0"/>
              <a:t>25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66028343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433F7C-9A83-6642-8AFC-8739B3C3D0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FFDFAA5F-39FF-B0E8-CCD7-638FCCB834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836E1445-CCB5-4249-9F0E-550745EA48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 dirty="0"/>
              <a:t>GT </a:t>
            </a:r>
            <a:r>
              <a:rPr lang="es-MX" dirty="0" err="1"/>
              <a:t>Ground</a:t>
            </a:r>
            <a:r>
              <a:rPr lang="es-MX" dirty="0"/>
              <a:t> </a:t>
            </a:r>
            <a:r>
              <a:rPr lang="es-MX" dirty="0" err="1"/>
              <a:t>Truth</a:t>
            </a:r>
            <a:endParaRPr lang="es-MX" dirty="0"/>
          </a:p>
          <a:p>
            <a:r>
              <a:rPr lang="es-MX" dirty="0"/>
              <a:t>PC </a:t>
            </a:r>
            <a:r>
              <a:rPr lang="es-MX" dirty="0" err="1"/>
              <a:t>Predicted</a:t>
            </a:r>
            <a:r>
              <a:rPr lang="es-MX" dirty="0"/>
              <a:t> in PC</a:t>
            </a:r>
          </a:p>
          <a:p>
            <a:r>
              <a:rPr lang="es-MX" dirty="0"/>
              <a:t>STM </a:t>
            </a:r>
            <a:r>
              <a:rPr lang="es-MX" dirty="0" err="1"/>
              <a:t>Predicted</a:t>
            </a:r>
            <a:r>
              <a:rPr lang="es-MX" dirty="0"/>
              <a:t> in STM32</a:t>
            </a:r>
          </a:p>
          <a:p>
            <a:endParaRPr lang="es-MX" dirty="0"/>
          </a:p>
          <a:p>
            <a:r>
              <a:rPr lang="es-MX" dirty="0"/>
              <a:t>Latencia solo de inferencia de 1 red de estas: 5.09 ms (407,040 ciclos). Latencia de inferencia de 5 redes: 25.44ms (2,034,800)</a:t>
            </a:r>
          </a:p>
          <a:p>
            <a:r>
              <a:rPr lang="es-MX" dirty="0"/>
              <a:t>Reloj de 80MHz</a:t>
            </a:r>
            <a:endParaRPr lang="es-CL" dirty="0"/>
          </a:p>
          <a:p>
            <a:endParaRPr lang="es-CL" dirty="0"/>
          </a:p>
          <a:p>
            <a:r>
              <a:rPr lang="es-CL" dirty="0"/>
              <a:t>3er lugar: 0,27</a:t>
            </a:r>
          </a:p>
          <a:p>
            <a:r>
              <a:rPr lang="es-CL" dirty="0"/>
              <a:t>4to lugar: 0,10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74CC22E3-1B0C-EF66-DBB5-D3825CBB04C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B734B3-0208-42BD-9373-D31BAA5621B9}" type="slidenum">
              <a:rPr lang="es-CL" smtClean="0"/>
              <a:t>26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0345753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7435DB-4C42-272A-9335-309CE93AE1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1113B48B-D6C2-10D7-91E0-24EE267E92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5B4B33BA-AA6A-10A2-A396-8DC5EF18D35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L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713C3267-901D-22AC-08F9-E29C7B47C5C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B734B3-0208-42BD-9373-D31BAA5621B9}" type="slidenum">
              <a:rPr lang="es-CL" smtClean="0"/>
              <a:t>27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56410469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B11A6F-47BE-33D4-E9A3-D1D646FA84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F91DA078-684C-E90A-22FF-FBB4141D4C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AD0993F1-AD8C-63A4-8A8B-1D8042F85F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L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452F50E6-6FB8-A3D3-20B9-A8817169C8D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B734B3-0208-42BD-9373-D31BAA5621B9}" type="slidenum">
              <a:rPr lang="es-CL" smtClean="0"/>
              <a:t>28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2690450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 dirty="0"/>
              <a:t>1.- Para tener menos entradas y disminuir el cuello de botella que es enviar 1153*4 datos por UART</a:t>
            </a:r>
          </a:p>
          <a:p>
            <a:r>
              <a:rPr lang="es-MX" dirty="0"/>
              <a:t>2.- Actualmente es secuencial, se demora 2 horas en total</a:t>
            </a:r>
          </a:p>
          <a:p>
            <a:r>
              <a:rPr lang="es-MX" dirty="0"/>
              <a:t>3.- Una red más moderna hace que no sea necesario calcular R, como mucho exige enviar información de frecuencia</a:t>
            </a:r>
          </a:p>
          <a:p>
            <a:r>
              <a:rPr lang="es-MX" dirty="0"/>
              <a:t>4.- Para hacerlo más interactivo.</a:t>
            </a:r>
            <a:endParaRPr lang="es-CL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B734B3-0208-42BD-9373-D31BAA5621B9}" type="slidenum">
              <a:rPr lang="es-CL" smtClean="0"/>
              <a:t>29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52961187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15953A-6C24-ECF3-7D84-81B4DB56E7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A92182F1-1E84-8BDB-5B40-40BA0C00E54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7C6F18FA-E5C0-1451-0463-250360A3D0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L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1D0A0A3F-5A7D-5CD8-3170-48C3B5848C2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B734B3-0208-42BD-9373-D31BAA5621B9}" type="slidenum">
              <a:rPr lang="es-CL" smtClean="0"/>
              <a:t>37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75289452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758E259-5F8F-22F3-5910-DE58EDBCFE8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73B19BDA-4870-DF48-B9AF-BBAB8866785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B1FCA46-610D-0461-8A80-0475DBC8FF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629A40-122E-4CAD-969C-CA5049F62EEF}" type="datetime1">
              <a:rPr lang="es-CL" smtClean="0"/>
              <a:t>10-07-2025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DCA5DE7-D3DA-BAB6-5525-E544EFD532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E1E2928F-54C3-D0C4-5EC6-ADFB5246B0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EED5AC-1242-4794-B0EE-05D093CD0FC2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7057184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229D535-470D-71FC-9997-A96F4B7879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35CBDFA9-A297-DCAA-D6C4-210BA7FA9F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651266B2-EA4B-2648-D053-65B9BCA14B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72FB78-290C-4944-AECD-F2460C510E40}" type="datetime1">
              <a:rPr lang="es-CL" smtClean="0"/>
              <a:t>10-07-2025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C82B29B5-73AB-127D-E8A7-14DE13FE4C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8EB51615-D810-5894-D019-FA526ACFFA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EED5AC-1242-4794-B0EE-05D093CD0FC2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7358452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7A48AB8-3DCC-4A28-AEDD-59C764C173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A669DE30-0946-2F67-EA05-88BDD5B67C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F44D895-6FA4-7322-5D79-41D0FB90B0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34EE04-49AC-493C-A084-532E892E6816}" type="datetime1">
              <a:rPr lang="es-CL" smtClean="0"/>
              <a:t>10-07-2025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494C4C69-9D06-E33F-959B-1F66DDB5C7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46E2BAA6-A0E0-92DB-B5D4-A837558CFB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EED5AC-1242-4794-B0EE-05D093CD0FC2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9297112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85AF3A0-A62D-A148-7325-710E814A48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4AE1D189-931E-F910-FAEB-F60CDB3EB72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AA2E0727-3A0D-8DAB-30D6-CE082825CC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B1D2B9DE-3952-DAA1-8F48-512C676F55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B763F8-D9BB-4A7C-ADAF-F6E61F3B1BFF}" type="datetime1">
              <a:rPr lang="es-CL" smtClean="0"/>
              <a:t>10-07-2025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0A8C1260-DAC0-C45B-B750-F8E6BCEEBD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152A9B6F-B3CA-B691-9CEB-0E762B1E44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EED5AC-1242-4794-B0EE-05D093CD0FC2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3155869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C2810FA-5A49-88BC-F06D-29873C01E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728DE623-2164-DA36-05D2-91346DF779C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DDCF22B8-C0F8-0CEC-82E7-74B1E331712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D990BDC4-424E-FD6A-249B-0E74F0F2D5B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C22893F5-7598-053D-7977-328EE8E6D20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69CF0C19-7230-2509-248F-90A877AB47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ED98A3-F4D8-44B2-BD1D-4CAEAAD2BE05}" type="datetime1">
              <a:rPr lang="es-CL" smtClean="0"/>
              <a:t>10-07-2025</a:t>
            </a:fld>
            <a:endParaRPr lang="es-CL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24423440-4C92-046D-F061-0A2B8F7E4F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B7745DC5-B8A7-5458-83B3-1E1EED9F8E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EED5AC-1242-4794-B0EE-05D093CD0FC2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9798556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DAB5753-324B-7E5B-1237-655E3C6845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2A40DADD-8873-B53B-6CAE-B5C9525AEA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12D4FA-E5D7-477B-BD32-E76517AF6E04}" type="datetime1">
              <a:rPr lang="es-CL" smtClean="0"/>
              <a:t>10-07-2025</a:t>
            </a:fld>
            <a:endParaRPr lang="es-CL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4A0846A7-26E8-AC1D-F938-11CD9F9888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391B0699-5657-F6A4-3DE6-F5CB178E9C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EED5AC-1242-4794-B0EE-05D093CD0FC2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8731850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996BE2D9-7498-BB9E-8539-28A1DDF6CA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DF9E5B-EECC-4809-9288-EDBD6347BC41}" type="datetime1">
              <a:rPr lang="es-CL" smtClean="0"/>
              <a:t>10-07-2025</a:t>
            </a:fld>
            <a:endParaRPr lang="es-CL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83DF7699-2CE7-3AF4-7F4C-141DCCB1B6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EAD9C4A7-D78B-8F6A-6581-95A5530C48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EED5AC-1242-4794-B0EE-05D093CD0FC2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466753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EAF7410-7721-A8FE-635B-E2111E5560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039F170-0216-9ADB-0660-74D48BBEEE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3949CCE2-A16A-A304-1EA8-87E8E2D6568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3AB525F1-D195-D46C-A453-239C04CAD0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D8ED99-3750-4093-9B5A-87C1271731F5}" type="datetime1">
              <a:rPr lang="es-CL" smtClean="0"/>
              <a:t>10-07-2025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0D604F20-4671-B5C7-CD85-59C721A819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6195E28F-3847-CAEB-6357-17357E67A6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EED5AC-1242-4794-B0EE-05D093CD0FC2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8784621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A839AD6-64B6-C512-F232-01CB1B8AC7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D3EF5264-EB54-66E2-163F-1BD066B62FD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CL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0461A0C4-1616-8AC9-73D1-030D10B18E0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A63682CF-2688-361D-63FC-645FE9988A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F3066E-8E6C-41E2-A0BC-3B95D80478D6}" type="datetime1">
              <a:rPr lang="es-CL" smtClean="0"/>
              <a:t>10-07-2025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F12DABC6-9070-6F24-8618-94A5669C9D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090CDECC-E3AE-D2F1-2795-F008EDC1C4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EED5AC-1242-4794-B0EE-05D093CD0FC2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2685105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A4744D6-CEF1-78E5-461E-2AD52E82C3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790DFF09-FC36-8170-A613-509899B3BD7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7358247-A852-DC0B-B925-E38BA7AE6C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738059-E09E-450C-9B6C-5B996C5ABFC5}" type="datetime1">
              <a:rPr lang="es-CL" smtClean="0"/>
              <a:t>10-07-2025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71CE3900-C4FA-B100-9E86-17E5BDCAA3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D31137AF-E8B0-78D0-A8D2-FC358B971C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EED5AC-1242-4794-B0EE-05D093CD0FC2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1372387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CDE77323-573B-5276-854F-F101137992D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34E068E2-8D10-97F3-565B-B0B730B991A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63BB1F5-28C3-9FCB-F645-F315C64D1F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7903C1-D393-46E0-A8D8-8EA56D306FA2}" type="datetime1">
              <a:rPr lang="es-CL" smtClean="0"/>
              <a:t>10-07-2025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058BA0D-816B-3509-38BC-9523AFEC64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D0E025A-7EF6-F81E-B219-C692E0DB83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EED5AC-1242-4794-B0EE-05D093CD0FC2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0488167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6E62BB95-3D1E-2D45-89C6-7FE88B3455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2F83E4CE-BC3E-D546-A3C0-1296D3820E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C2A0EB21-44C8-4EB4-D544-F9745EC0D02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C81BDAE-3CD2-4CD7-8E95-CB83E21A0B2C}" type="datetime1">
              <a:rPr lang="es-CL" smtClean="0"/>
              <a:t>10-07-2025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86FF3CAC-D522-5DC9-19AE-383DEC7822A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8EC2B87-A089-8141-1BDE-F301CD03FEB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1EED5AC-1242-4794-B0EE-05D093CD0FC2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520076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4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6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jp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bbci.de/competition/iv/desc_2a.pdf" TargetMode="External"/><Relationship Id="rId2" Type="http://schemas.openxmlformats.org/officeDocument/2006/relationships/hyperlink" Target="https://www.bbci.de/competition/iv/desc_1.html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bbci.de/competition/iv/desc_4.pdf" TargetMode="External"/><Relationship Id="rId5" Type="http://schemas.openxmlformats.org/officeDocument/2006/relationships/hyperlink" Target="https://www.bbci.de/competition/iv/desc_3.pdf" TargetMode="External"/><Relationship Id="rId4" Type="http://schemas.openxmlformats.org/officeDocument/2006/relationships/hyperlink" Target="https://www.bbci.de/competition/iv/desc_2b.pdf" TargetMode="Externa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73C994B4-9721-4148-9EEC-6793CECDE8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3" y="-1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9D95E49-763A-4886-B038-82F7347405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" y="0"/>
            <a:ext cx="12188952" cy="6858000"/>
          </a:xfrm>
          <a:prstGeom prst="rect">
            <a:avLst/>
          </a:prstGeom>
          <a:solidFill>
            <a:schemeClr val="bg2">
              <a:alpha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2E89875-DE84-4351-B850-212A3C8BBA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478324" y="699899"/>
            <a:ext cx="10713676" cy="54333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1C045F1B-043D-F0A3-36FA-E8C3FAA4BC0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989319" y="576263"/>
            <a:ext cx="5054196" cy="2967606"/>
          </a:xfrm>
        </p:spPr>
        <p:txBody>
          <a:bodyPr anchor="b">
            <a:normAutofit/>
          </a:bodyPr>
          <a:lstStyle/>
          <a:p>
            <a:pPr algn="l"/>
            <a:r>
              <a:rPr lang="es-ES" sz="4800" dirty="0"/>
              <a:t>Edge Computing para Control Biónico con Señales Cerebrales</a:t>
            </a:r>
            <a:endParaRPr lang="es-CL" sz="4800" dirty="0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D0431E88-B924-3B7F-0648-102E03CFDDD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989319" y="3764975"/>
            <a:ext cx="5054196" cy="2192683"/>
          </a:xfrm>
        </p:spPr>
        <p:txBody>
          <a:bodyPr>
            <a:normAutofit/>
          </a:bodyPr>
          <a:lstStyle/>
          <a:p>
            <a:pPr algn="l"/>
            <a:r>
              <a:rPr lang="es-ES" sz="2200" dirty="0"/>
              <a:t>David Tapia Pino</a:t>
            </a:r>
            <a:endParaRPr lang="es-CL" sz="220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B083774-A903-4B1B-BC6A-94C1F048E8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5442588" y="0"/>
            <a:ext cx="324851" cy="6857992"/>
          </a:xfrm>
          <a:prstGeom prst="rect">
            <a:avLst/>
          </a:prstGeom>
          <a:solidFill>
            <a:schemeClr val="accent1">
              <a:alpha val="25000"/>
            </a:schemeClr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0" tIns="0" rIns="0" bIns="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30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pic>
        <p:nvPicPr>
          <p:cNvPr id="5" name="Picture 4" descr="Vista angular de circuito con forma de cerebro">
            <a:extLst>
              <a:ext uri="{FF2B5EF4-FFF2-40B4-BE49-F238E27FC236}">
                <a16:creationId xmlns:a16="http://schemas.microsoft.com/office/drawing/2014/main" id="{9C1F0631-F6DA-9FE5-6295-ABAFAE2ADD4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2173" r="22028" b="2"/>
          <a:stretch/>
        </p:blipFill>
        <p:spPr>
          <a:xfrm>
            <a:off x="-6472" y="10"/>
            <a:ext cx="5486394" cy="6857982"/>
          </a:xfrm>
          <a:prstGeom prst="rect">
            <a:avLst/>
          </a:prstGeom>
        </p:spPr>
      </p:pic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F1E07EB8-B07C-4EF5-8DE2-6B03F3EC83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6118001"/>
            <a:ext cx="12192000" cy="0"/>
          </a:xfrm>
          <a:prstGeom prst="line">
            <a:avLst/>
          </a:prstGeom>
          <a:ln w="9525" cap="rnd">
            <a:solidFill>
              <a:schemeClr val="accent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39679CC-0AEA-4729-827F-5738C10515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11365990" y="5610"/>
            <a:ext cx="0" cy="6858000"/>
          </a:xfrm>
          <a:prstGeom prst="line">
            <a:avLst/>
          </a:prstGeom>
          <a:ln w="9525" cap="rnd">
            <a:solidFill>
              <a:schemeClr val="accent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113518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Slide Background">
            <a:extLst>
              <a:ext uri="{FF2B5EF4-FFF2-40B4-BE49-F238E27FC236}">
                <a16:creationId xmlns:a16="http://schemas.microsoft.com/office/drawing/2014/main" id="{9F7D5CDA-D291-4307-BF55-1381FED296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A04D664F-7D29-BE8B-2D2D-7BA9A670AD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800" y="762001"/>
            <a:ext cx="5334197" cy="1708242"/>
          </a:xfrm>
        </p:spPr>
        <p:txBody>
          <a:bodyPr anchor="ctr">
            <a:normAutofit/>
          </a:bodyPr>
          <a:lstStyle/>
          <a:p>
            <a:r>
              <a:rPr lang="es-ES" sz="4000" dirty="0"/>
              <a:t>Objetivo Principal</a:t>
            </a:r>
            <a:endParaRPr lang="es-CL" sz="4000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5015CF2-2FC8-C876-E31D-53D038CB1A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1800" y="2470245"/>
            <a:ext cx="5334197" cy="2152556"/>
          </a:xfrm>
        </p:spPr>
        <p:txBody>
          <a:bodyPr anchor="ctr">
            <a:normAutofit/>
          </a:bodyPr>
          <a:lstStyle/>
          <a:p>
            <a:r>
              <a:rPr lang="es-MX" sz="2000" dirty="0"/>
              <a:t>Implementar un sistema de </a:t>
            </a:r>
            <a:r>
              <a:rPr lang="es-MX" sz="2000" dirty="0" err="1"/>
              <a:t>clasificacion</a:t>
            </a:r>
            <a:r>
              <a:rPr lang="es-MX" sz="2000" dirty="0"/>
              <a:t> de señales cerebrales basado en Edge Computing, implementado en la placa NUCLEO-L476RG de </a:t>
            </a:r>
            <a:r>
              <a:rPr lang="es-MX" sz="2000" dirty="0" err="1"/>
              <a:t>STMicroelectronics</a:t>
            </a:r>
            <a:r>
              <a:rPr lang="es-MX" sz="2000" dirty="0"/>
              <a:t>, que asocie patrones de actividad cerebral a categorías de movimiento.</a:t>
            </a:r>
            <a:endParaRPr lang="es-CL" sz="2000" dirty="0"/>
          </a:p>
        </p:txBody>
      </p:sp>
      <p:pic>
        <p:nvPicPr>
          <p:cNvPr id="5" name="Picture 4" descr="Un dedo señalando una tableta con luves verdes de neón">
            <a:extLst>
              <a:ext uri="{FF2B5EF4-FFF2-40B4-BE49-F238E27FC236}">
                <a16:creationId xmlns:a16="http://schemas.microsoft.com/office/drawing/2014/main" id="{FA31CE3D-03D1-8C47-CFEB-0EDF70FD01C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2411" r="35752" b="-1"/>
          <a:stretch/>
        </p:blipFill>
        <p:spPr>
          <a:xfrm>
            <a:off x="6857797" y="-10886"/>
            <a:ext cx="5334204" cy="6868886"/>
          </a:xfrm>
          <a:prstGeom prst="rect">
            <a:avLst/>
          </a:prstGeom>
          <a:effectLst>
            <a:outerShdw blurRad="127000" dist="50800" dir="10800000" sx="99000" sy="99000" algn="r" rotWithShape="0">
              <a:prstClr val="black">
                <a:alpha val="40000"/>
              </a:prstClr>
            </a:outerShdw>
          </a:effectLst>
        </p:spPr>
      </p:pic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9352AD64-D2AF-4D9E-672B-6711D000F6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EED5AC-1242-4794-B0EE-05D093CD0FC2}" type="slidenum">
              <a:rPr lang="es-CL" smtClean="0"/>
              <a:t>2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0938317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D3D64BA-5AEE-1A39-8E6E-6C27F022A8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Objetivos Secundarios</a:t>
            </a:r>
            <a:endParaRPr lang="es-CL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38113048-817B-692F-5FE0-F231FD1240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s-MX" dirty="0"/>
              <a:t>Seleccionar y preprocesar un conjunto de datos de señales cerebrales adecuado para la clasificación de movimientos.</a:t>
            </a:r>
          </a:p>
          <a:p>
            <a:r>
              <a:rPr lang="es-MX" dirty="0"/>
              <a:t>Diseñar e implementar un modelo de Machine </a:t>
            </a:r>
            <a:r>
              <a:rPr lang="es-MX" dirty="0" err="1"/>
              <a:t>Learning</a:t>
            </a:r>
            <a:r>
              <a:rPr lang="es-MX" dirty="0"/>
              <a:t> en entorno computacional para la clasificación de las señales cerebrales.</a:t>
            </a:r>
          </a:p>
          <a:p>
            <a:r>
              <a:rPr lang="es-MX" dirty="0"/>
              <a:t>Adaptar y optimizar el modelo para su </a:t>
            </a:r>
            <a:r>
              <a:rPr lang="es-MX" dirty="0" err="1"/>
              <a:t>implementacion</a:t>
            </a:r>
            <a:r>
              <a:rPr lang="es-MX" dirty="0"/>
              <a:t> en el microcontrolador STM32, considerando las restricciones de memoria y capacidad de procesamiento.</a:t>
            </a:r>
          </a:p>
          <a:p>
            <a:r>
              <a:rPr lang="es-MX" dirty="0"/>
              <a:t>Validar el funcionamiento del sistema integrado mediante:</a:t>
            </a:r>
          </a:p>
          <a:p>
            <a:pPr lvl="1"/>
            <a:r>
              <a:rPr lang="es-MX" dirty="0"/>
              <a:t>La </a:t>
            </a:r>
            <a:r>
              <a:rPr lang="es-MX" dirty="0" err="1"/>
              <a:t>ejecucion</a:t>
            </a:r>
            <a:r>
              <a:rPr lang="es-MX" dirty="0"/>
              <a:t> de inferencias en tiempo real en el microcontrolador</a:t>
            </a:r>
          </a:p>
          <a:p>
            <a:pPr lvl="1"/>
            <a:r>
              <a:rPr lang="es-MX" dirty="0"/>
              <a:t>La </a:t>
            </a:r>
            <a:r>
              <a:rPr lang="es-MX" dirty="0" err="1"/>
              <a:t>medicion</a:t>
            </a:r>
            <a:r>
              <a:rPr lang="es-MX" dirty="0"/>
              <a:t> de métricas de rendimiento (precisión y latencia) </a:t>
            </a:r>
            <a:endParaRPr lang="es-CL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7C231F90-C9BC-1FF8-0BE7-8A88D28F0D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EED5AC-1242-4794-B0EE-05D093CD0FC2}" type="slidenum">
              <a:rPr lang="es-CL" smtClean="0"/>
              <a:t>3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1383298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" dur="10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10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ítulo 5">
            <a:extLst>
              <a:ext uri="{FF2B5EF4-FFF2-40B4-BE49-F238E27FC236}">
                <a16:creationId xmlns:a16="http://schemas.microsoft.com/office/drawing/2014/main" id="{A5256B2B-EDC2-744A-387B-2F6AA1A188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Marco Teórico</a:t>
            </a:r>
            <a:endParaRPr lang="es-CL" dirty="0"/>
          </a:p>
        </p:txBody>
      </p:sp>
      <p:sp>
        <p:nvSpPr>
          <p:cNvPr id="7" name="Marcador de texto 6">
            <a:extLst>
              <a:ext uri="{FF2B5EF4-FFF2-40B4-BE49-F238E27FC236}">
                <a16:creationId xmlns:a16="http://schemas.microsoft.com/office/drawing/2014/main" id="{FE316F22-8234-61CB-DC8B-FFD8DC368A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 dirty="0"/>
              <a:t>Edge Computing y </a:t>
            </a:r>
            <a:r>
              <a:rPr lang="es-MX" dirty="0" err="1"/>
              <a:t>TinyML</a:t>
            </a:r>
            <a:endParaRPr lang="es-CL" dirty="0"/>
          </a:p>
        </p:txBody>
      </p:sp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B0FC6B2C-2CD7-A052-095D-863A72DEC2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EED5AC-1242-4794-B0EE-05D093CD0FC2}" type="slidenum">
              <a:rPr lang="es-CL" smtClean="0"/>
              <a:t>4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5201635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70DFC902-7D23-471A-B557-B6B6917D7A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" y="-5705"/>
            <a:ext cx="12191990" cy="169434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7B03B0AB-9A82-30EF-9FF5-B084FEB130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6851" y="637762"/>
            <a:ext cx="9888496" cy="900131"/>
          </a:xfrm>
        </p:spPr>
        <p:txBody>
          <a:bodyPr anchor="t">
            <a:normAutofit/>
          </a:bodyPr>
          <a:lstStyle/>
          <a:p>
            <a:r>
              <a:rPr lang="es-MX" sz="4000" dirty="0">
                <a:solidFill>
                  <a:schemeClr val="bg1"/>
                </a:solidFill>
              </a:rPr>
              <a:t>Edge Computing</a:t>
            </a:r>
            <a:endParaRPr lang="es-CL" sz="4000" dirty="0">
              <a:solidFill>
                <a:schemeClr val="bg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55D5633-D557-4DCA-982C-FF36EB7A1C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688641"/>
            <a:ext cx="12191990" cy="516935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50D3AD2-FA80-415F-A9CE-54D884561C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56851" y="2010758"/>
            <a:ext cx="457190" cy="457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 descr="Edge computing vs. cloud computing: What's the difference?">
            <a:extLst>
              <a:ext uri="{FF2B5EF4-FFF2-40B4-BE49-F238E27FC236}">
                <a16:creationId xmlns:a16="http://schemas.microsoft.com/office/drawing/2014/main" id="{CBE411B9-D0CF-4FBF-78BD-54F8E00A2C3D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57600" y="2349500"/>
            <a:ext cx="4876800" cy="3695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D794FDB5-5B15-F8C5-044C-D1C398354A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EED5AC-1242-4794-B0EE-05D093CD0FC2}" type="slidenum">
              <a:rPr lang="es-CL" smtClean="0"/>
              <a:t>5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8221049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0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0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0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F6C2B87-4631-B790-EC39-1A57D8C159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CF3D8306-049B-9328-46B7-6DEC40152B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" y="-5705"/>
            <a:ext cx="12191990" cy="169434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360473BE-6BC0-6807-EC0D-2F8C027FF4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6851" y="637762"/>
            <a:ext cx="9888496" cy="900131"/>
          </a:xfrm>
        </p:spPr>
        <p:txBody>
          <a:bodyPr anchor="t">
            <a:normAutofit/>
          </a:bodyPr>
          <a:lstStyle/>
          <a:p>
            <a:r>
              <a:rPr lang="es-MX" sz="4000" dirty="0" err="1">
                <a:solidFill>
                  <a:schemeClr val="bg1"/>
                </a:solidFill>
              </a:rPr>
              <a:t>TinyML</a:t>
            </a:r>
            <a:endParaRPr lang="es-CL" sz="4000" dirty="0">
              <a:solidFill>
                <a:schemeClr val="bg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60E2B4B-4873-E835-C135-F5317BBE5B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688641"/>
            <a:ext cx="12191990" cy="516935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5830A47-BA87-F19A-C9BD-1D22D53B01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56851" y="2010758"/>
            <a:ext cx="457190" cy="457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C1A1129C-E7A7-A15B-0E07-EE6A026648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EED5AC-1242-4794-B0EE-05D093CD0FC2}" type="slidenum">
              <a:rPr lang="es-CL" smtClean="0"/>
              <a:t>6</a:t>
            </a:fld>
            <a:endParaRPr lang="es-CL"/>
          </a:p>
        </p:txBody>
      </p:sp>
      <p:pic>
        <p:nvPicPr>
          <p:cNvPr id="1026" name="Picture 2" descr="TinyML: Machine Learning for Embedded System — Part I | by Leonardo  Cavagnis | Medium">
            <a:extLst>
              <a:ext uri="{FF2B5EF4-FFF2-40B4-BE49-F238E27FC236}">
                <a16:creationId xmlns:a16="http://schemas.microsoft.com/office/drawing/2014/main" id="{573A73FD-B8D7-3088-A35E-7511E1AB6E1C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76400" y="2204244"/>
            <a:ext cx="8839200" cy="3594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057494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6611CDB-99E1-39C2-F019-8CC9759B00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AEC2EEA4-2DF8-5CE3-FA09-06952B533C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" y="-5705"/>
            <a:ext cx="12191990" cy="169434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06B56DF9-D8FF-118B-8D9C-97A6AD4CE9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6851" y="637762"/>
            <a:ext cx="9888496" cy="900131"/>
          </a:xfrm>
        </p:spPr>
        <p:txBody>
          <a:bodyPr anchor="t">
            <a:normAutofit/>
          </a:bodyPr>
          <a:lstStyle/>
          <a:p>
            <a:r>
              <a:rPr lang="es-MX" sz="4000" dirty="0">
                <a:solidFill>
                  <a:schemeClr val="bg1"/>
                </a:solidFill>
              </a:rPr>
              <a:t>Cuantización Post Entrenamiento</a:t>
            </a:r>
            <a:endParaRPr lang="es-CL" sz="4000" dirty="0">
              <a:solidFill>
                <a:schemeClr val="bg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F54B43D-69A6-B805-736D-4A76EFC791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688641"/>
            <a:ext cx="12191990" cy="516935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C077299-548E-6584-738B-B13D633D8F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56851" y="2010758"/>
            <a:ext cx="457190" cy="457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7" name="Marcador de contenido 8">
            <a:extLst>
              <a:ext uri="{FF2B5EF4-FFF2-40B4-BE49-F238E27FC236}">
                <a16:creationId xmlns:a16="http://schemas.microsoft.com/office/drawing/2014/main" id="{0A309884-54DF-2452-3953-466CD86C030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194634390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166B7972-A048-D8E9-0504-C3FE9BD686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EED5AC-1242-4794-B0EE-05D093CD0FC2}" type="slidenum">
              <a:rPr lang="es-CL" smtClean="0"/>
              <a:t>7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1320540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107FE60-AE7F-7CCD-CEAA-5CF5D7CEC6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 err="1"/>
              <a:t>Datasets</a:t>
            </a:r>
            <a:endParaRPr lang="es-CL" dirty="0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8808C644-367F-8355-1E2C-5B758B579E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 dirty="0"/>
              <a:t>BCI C IV</a:t>
            </a:r>
            <a:endParaRPr lang="es-CL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F62FCF8B-2392-4428-F882-40B98B81D6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EED5AC-1242-4794-B0EE-05D093CD0FC2}" type="slidenum">
              <a:rPr lang="es-CL" smtClean="0"/>
              <a:t>8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43772267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3175EB1-F112-19E2-CD3A-1F3FECB55C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9B3906C-A62A-8A29-3AC4-C5AFB22E17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" y="-5705"/>
            <a:ext cx="12191990" cy="169434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220D0CD6-4857-C966-CEC8-5C2218D6A4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6851" y="637762"/>
            <a:ext cx="9888496" cy="900131"/>
          </a:xfrm>
        </p:spPr>
        <p:txBody>
          <a:bodyPr anchor="t">
            <a:normAutofit/>
          </a:bodyPr>
          <a:lstStyle/>
          <a:p>
            <a:r>
              <a:rPr lang="es-ES" sz="4000" dirty="0" err="1">
                <a:solidFill>
                  <a:schemeClr val="bg1"/>
                </a:solidFill>
              </a:rPr>
              <a:t>Dataset</a:t>
            </a:r>
            <a:r>
              <a:rPr lang="es-ES" sz="4000" dirty="0">
                <a:solidFill>
                  <a:schemeClr val="bg1"/>
                </a:solidFill>
              </a:rPr>
              <a:t> BCICIV-4</a:t>
            </a:r>
            <a:endParaRPr lang="es-CL" sz="4000" dirty="0">
              <a:solidFill>
                <a:schemeClr val="bg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CDC91A9-FA4F-D4BC-71E0-BED3AD37C3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688641"/>
            <a:ext cx="12191990" cy="516935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A92A59F-8764-6F88-6A07-116150DAC5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56851" y="2010758"/>
            <a:ext cx="457190" cy="457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Marcador de contenido 4">
            <a:extLst>
              <a:ext uri="{FF2B5EF4-FFF2-40B4-BE49-F238E27FC236}">
                <a16:creationId xmlns:a16="http://schemas.microsoft.com/office/drawing/2014/main" id="{C9D02583-B311-AD30-8838-C5DBF3B7A1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CL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DBC870B0-B4C6-8BF3-453C-F270DAF8D6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7962" y="2207225"/>
            <a:ext cx="4753638" cy="4429743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46A56520-59B4-9C28-5E3B-E86330E2944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41441" y="3086898"/>
            <a:ext cx="6022597" cy="2670396"/>
          </a:xfrm>
          <a:prstGeom prst="rect">
            <a:avLst/>
          </a:prstGeom>
        </p:spPr>
      </p:pic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2599351F-9E0F-05EE-B349-E786CDB40B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EED5AC-1242-4794-B0EE-05D093CD0FC2}" type="slidenum">
              <a:rPr lang="es-CL" smtClean="0"/>
              <a:t>9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16869053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29E899F-154D-C72A-9795-B25261C577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651D6939-C002-EAF4-49EC-84D7556665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" y="-5705"/>
            <a:ext cx="12191990" cy="169434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38DCE748-4D66-8542-806B-8F3ACC3E9A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6851" y="637762"/>
            <a:ext cx="9888496" cy="900131"/>
          </a:xfrm>
        </p:spPr>
        <p:txBody>
          <a:bodyPr anchor="t">
            <a:normAutofit/>
          </a:bodyPr>
          <a:lstStyle/>
          <a:p>
            <a:r>
              <a:rPr lang="es-ES" sz="4000" dirty="0" err="1">
                <a:solidFill>
                  <a:schemeClr val="bg1"/>
                </a:solidFill>
              </a:rPr>
              <a:t>Dataset</a:t>
            </a:r>
            <a:r>
              <a:rPr lang="es-ES" sz="4000" dirty="0">
                <a:solidFill>
                  <a:schemeClr val="bg1"/>
                </a:solidFill>
              </a:rPr>
              <a:t> BCICIV-4</a:t>
            </a:r>
            <a:endParaRPr lang="es-CL" sz="4000" dirty="0">
              <a:solidFill>
                <a:schemeClr val="bg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5366B06-6B00-DD8B-86EA-C904095150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688641"/>
            <a:ext cx="12191990" cy="516935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F303854-9B54-C9CA-3504-CB137401AE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56851" y="2010758"/>
            <a:ext cx="457190" cy="457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Marcador de contenido 2">
            <a:extLst>
              <a:ext uri="{FF2B5EF4-FFF2-40B4-BE49-F238E27FC236}">
                <a16:creationId xmlns:a16="http://schemas.microsoft.com/office/drawing/2014/main" id="{ADBE62AE-30DF-3287-320F-857F2923AB0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838200" y="2926916"/>
            <a:ext cx="10515600" cy="2148756"/>
          </a:xfrm>
          <a:prstGeom prst="rect">
            <a:avLst/>
          </a:prstGeom>
        </p:spPr>
      </p:pic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100B0141-C6C4-99F2-5BFF-FEFB666D19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EED5AC-1242-4794-B0EE-05D093CD0FC2}" type="slidenum">
              <a:rPr lang="es-CL" smtClean="0"/>
              <a:t>10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8467343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5A660CD-E844-78E1-11FB-1671525CEC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Framework</a:t>
            </a:r>
            <a:endParaRPr lang="es-CL" dirty="0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2AEBC428-8878-BE9B-C73F-88CB8EC738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 dirty="0" err="1"/>
              <a:t>TensorflowLite</a:t>
            </a:r>
            <a:r>
              <a:rPr lang="es-MX" dirty="0"/>
              <a:t> </a:t>
            </a:r>
            <a:r>
              <a:rPr lang="es-MX" dirty="0" err="1"/>
              <a:t>for</a:t>
            </a:r>
            <a:r>
              <a:rPr lang="es-MX" dirty="0"/>
              <a:t> </a:t>
            </a:r>
            <a:r>
              <a:rPr lang="es-MX" dirty="0" err="1"/>
              <a:t>Microcontrollers</a:t>
            </a:r>
            <a:r>
              <a:rPr lang="es-MX" dirty="0"/>
              <a:t> vs STM32Cube.AI</a:t>
            </a:r>
            <a:endParaRPr lang="es-CL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CB2924BD-AC67-CEFE-C1F7-75F5C428D4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EED5AC-1242-4794-B0EE-05D093CD0FC2}" type="slidenum">
              <a:rPr lang="es-CL" smtClean="0"/>
              <a:t>11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70570619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4B6C5BD-6FB9-F813-EC96-DCE97A1A4D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E0A34E0D-8A33-FDF8-DE55-CC06C69184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" y="-5705"/>
            <a:ext cx="12191990" cy="169434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D09CF8AD-853F-0611-FADA-78F36E1359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6851" y="637762"/>
            <a:ext cx="9888496" cy="900131"/>
          </a:xfrm>
        </p:spPr>
        <p:txBody>
          <a:bodyPr anchor="t">
            <a:normAutofit/>
          </a:bodyPr>
          <a:lstStyle/>
          <a:p>
            <a:r>
              <a:rPr lang="es-MX" sz="4000" dirty="0">
                <a:solidFill>
                  <a:schemeClr val="bg1"/>
                </a:solidFill>
              </a:rPr>
              <a:t>Neural Networks</a:t>
            </a:r>
            <a:endParaRPr lang="es-CL" sz="4000" dirty="0">
              <a:solidFill>
                <a:schemeClr val="bg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F29F024-C2C6-1A49-18F1-E55D697B497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688641"/>
            <a:ext cx="12191990" cy="516935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D4C7000-28F0-3999-9F7E-D0CD7A8647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56851" y="2010758"/>
            <a:ext cx="457190" cy="457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8" descr="Running TensorFlow Lite for Microcontrollers on Contiki-NG | by Atis E |  Medium">
            <a:extLst>
              <a:ext uri="{FF2B5EF4-FFF2-40B4-BE49-F238E27FC236}">
                <a16:creationId xmlns:a16="http://schemas.microsoft.com/office/drawing/2014/main" id="{E85CE8AF-E813-E8B3-1BB6-9A2CC1B11377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4360" y="1825625"/>
            <a:ext cx="10463280" cy="43513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BFF9283C-C53B-B83A-D40A-567D7DA52B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EED5AC-1242-4794-B0EE-05D093CD0FC2}" type="slidenum">
              <a:rPr lang="es-CL" smtClean="0"/>
              <a:t>12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4774582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B21AF87-33ED-DC09-3E14-0B0D81EA20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355DBA64-5D73-999E-A0AA-3E8FB9A64E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" y="-5705"/>
            <a:ext cx="12191990" cy="169434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D3D92476-ABBC-1D6C-FA98-506FA44C5B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6851" y="637762"/>
            <a:ext cx="9888496" cy="900131"/>
          </a:xfrm>
        </p:spPr>
        <p:txBody>
          <a:bodyPr anchor="t">
            <a:normAutofit/>
          </a:bodyPr>
          <a:lstStyle/>
          <a:p>
            <a:r>
              <a:rPr lang="es-MX" sz="4000" dirty="0">
                <a:solidFill>
                  <a:schemeClr val="bg1"/>
                </a:solidFill>
              </a:rPr>
              <a:t>STM32Cube.AI</a:t>
            </a:r>
            <a:endParaRPr lang="es-CL" sz="4000" dirty="0">
              <a:solidFill>
                <a:schemeClr val="bg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30A55A9-C41B-9AC4-296F-CEFF1839B9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688641"/>
            <a:ext cx="12191990" cy="516935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359FA17-D7A1-482E-240A-9926B68F6C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56851" y="2010758"/>
            <a:ext cx="457190" cy="457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Marcador de contenido 4">
            <a:extLst>
              <a:ext uri="{FF2B5EF4-FFF2-40B4-BE49-F238E27FC236}">
                <a16:creationId xmlns:a16="http://schemas.microsoft.com/office/drawing/2014/main" id="{F5775B1F-06C9-311D-4388-6CD33B3A560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998171"/>
            <a:ext cx="10515600" cy="4006245"/>
          </a:xfrm>
        </p:spPr>
      </p:pic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8C867B71-73C8-94B6-72DA-BD686BD9CE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EED5AC-1242-4794-B0EE-05D093CD0FC2}" type="slidenum">
              <a:rPr lang="es-CL" smtClean="0"/>
              <a:t>13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86576622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6A59087-9CEF-E70F-6439-E47585968C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 err="1"/>
              <a:t>Hello</a:t>
            </a:r>
            <a:r>
              <a:rPr lang="es-MX" dirty="0"/>
              <a:t> </a:t>
            </a:r>
            <a:r>
              <a:rPr lang="es-MX" dirty="0" err="1"/>
              <a:t>World</a:t>
            </a:r>
            <a:endParaRPr lang="es-CL" dirty="0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DEC87A0C-2BA0-F112-3163-00B6A5461B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 dirty="0" err="1"/>
              <a:t>TensorFlow</a:t>
            </a:r>
            <a:r>
              <a:rPr lang="es-MX" dirty="0"/>
              <a:t> Lite + STM32Cube.AI</a:t>
            </a:r>
            <a:endParaRPr lang="es-CL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4465E765-8B91-85D7-D45A-36A332A3C6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EED5AC-1242-4794-B0EE-05D093CD0FC2}" type="slidenum">
              <a:rPr lang="es-CL" smtClean="0"/>
              <a:t>14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98234663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D7D6BF2-6E12-1BEC-FEE0-5721954050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CA3A2C2C-691D-C809-B08E-CDC2C45692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" y="-5705"/>
            <a:ext cx="12191990" cy="169434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732B6FE7-50EE-E6C5-1F3D-BC8A1DBF25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6851" y="637762"/>
            <a:ext cx="9888496" cy="900131"/>
          </a:xfrm>
        </p:spPr>
        <p:txBody>
          <a:bodyPr anchor="t">
            <a:normAutofit/>
          </a:bodyPr>
          <a:lstStyle/>
          <a:p>
            <a:r>
              <a:rPr lang="es-ES" sz="4000" dirty="0" err="1">
                <a:solidFill>
                  <a:schemeClr val="bg1"/>
                </a:solidFill>
              </a:rPr>
              <a:t>Tensorflow</a:t>
            </a:r>
            <a:r>
              <a:rPr lang="es-ES" sz="4000" dirty="0">
                <a:solidFill>
                  <a:schemeClr val="bg1"/>
                </a:solidFill>
              </a:rPr>
              <a:t> Lite </a:t>
            </a:r>
            <a:r>
              <a:rPr lang="es-ES" sz="4000" dirty="0" err="1">
                <a:solidFill>
                  <a:schemeClr val="bg1"/>
                </a:solidFill>
              </a:rPr>
              <a:t>Hello</a:t>
            </a:r>
            <a:r>
              <a:rPr lang="es-ES" sz="4000" dirty="0">
                <a:solidFill>
                  <a:schemeClr val="bg1"/>
                </a:solidFill>
              </a:rPr>
              <a:t> </a:t>
            </a:r>
            <a:r>
              <a:rPr lang="es-ES" sz="4000" dirty="0" err="1">
                <a:solidFill>
                  <a:schemeClr val="bg1"/>
                </a:solidFill>
              </a:rPr>
              <a:t>World</a:t>
            </a:r>
            <a:endParaRPr lang="es-CL" sz="4000" dirty="0">
              <a:solidFill>
                <a:schemeClr val="bg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96B88C6-E43A-13B3-90C2-88CC338F9C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688641"/>
            <a:ext cx="12191990" cy="516935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5974C5F-DA6B-689A-EC98-18081A6A47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56851" y="2010758"/>
            <a:ext cx="457190" cy="457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Marcador de contenido 8">
            <a:extLst>
              <a:ext uri="{FF2B5EF4-FFF2-40B4-BE49-F238E27FC236}">
                <a16:creationId xmlns:a16="http://schemas.microsoft.com/office/drawing/2014/main" id="{742BAA06-69AB-8429-8C3E-0328438B497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469236" y="1833145"/>
            <a:ext cx="2054884" cy="4880350"/>
          </a:xfrm>
          <a:prstGeom prst="rect">
            <a:avLst/>
          </a:prstGeom>
        </p:spPr>
      </p:pic>
      <p:pic>
        <p:nvPicPr>
          <p:cNvPr id="11" name="Marcador de contenido 11">
            <a:extLst>
              <a:ext uri="{FF2B5EF4-FFF2-40B4-BE49-F238E27FC236}">
                <a16:creationId xmlns:a16="http://schemas.microsoft.com/office/drawing/2014/main" id="{49706432-90E6-FDAC-A40F-68742FABF7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182" y="2354717"/>
            <a:ext cx="8786792" cy="4084002"/>
          </a:xfrm>
          <a:prstGeom prst="rect">
            <a:avLst/>
          </a:prstGeom>
        </p:spPr>
      </p:pic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3B9E0634-983F-0329-6412-449BEDCF5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EED5AC-1242-4794-B0EE-05D093CD0FC2}" type="slidenum">
              <a:rPr lang="es-CL" smtClean="0"/>
              <a:t>15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1753381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9E02D9E-7256-56C8-92D3-BBC0D3FECC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044ACD4-AF02-A9A7-BE6A-B9FBB63B4C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" y="-5705"/>
            <a:ext cx="12191990" cy="169434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13A01857-5CAA-2132-73B8-45631B8008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6851" y="637762"/>
            <a:ext cx="9888496" cy="900131"/>
          </a:xfrm>
        </p:spPr>
        <p:txBody>
          <a:bodyPr anchor="t">
            <a:normAutofit/>
          </a:bodyPr>
          <a:lstStyle/>
          <a:p>
            <a:r>
              <a:rPr lang="es-ES" sz="4000" dirty="0" err="1">
                <a:solidFill>
                  <a:schemeClr val="bg1"/>
                </a:solidFill>
              </a:rPr>
              <a:t>Tensorflow</a:t>
            </a:r>
            <a:r>
              <a:rPr lang="es-ES" sz="4000" dirty="0">
                <a:solidFill>
                  <a:schemeClr val="bg1"/>
                </a:solidFill>
              </a:rPr>
              <a:t> Lite </a:t>
            </a:r>
            <a:r>
              <a:rPr lang="es-ES" sz="4000" dirty="0" err="1">
                <a:solidFill>
                  <a:schemeClr val="bg1"/>
                </a:solidFill>
              </a:rPr>
              <a:t>Hello</a:t>
            </a:r>
            <a:r>
              <a:rPr lang="es-ES" sz="4000" dirty="0">
                <a:solidFill>
                  <a:schemeClr val="bg1"/>
                </a:solidFill>
              </a:rPr>
              <a:t> </a:t>
            </a:r>
            <a:r>
              <a:rPr lang="es-ES" sz="4000" dirty="0" err="1">
                <a:solidFill>
                  <a:schemeClr val="bg1"/>
                </a:solidFill>
              </a:rPr>
              <a:t>World</a:t>
            </a:r>
            <a:endParaRPr lang="es-CL" sz="4000" dirty="0">
              <a:solidFill>
                <a:schemeClr val="bg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F85C80E-4800-69A8-2347-283903F60E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688641"/>
            <a:ext cx="12191990" cy="516935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FE4E439-CCE8-2C00-F1AA-35F20B5668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56851" y="2010758"/>
            <a:ext cx="457190" cy="457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Marcador de contenido 5">
            <a:extLst>
              <a:ext uri="{FF2B5EF4-FFF2-40B4-BE49-F238E27FC236}">
                <a16:creationId xmlns:a16="http://schemas.microsoft.com/office/drawing/2014/main" id="{52EF79E8-7FF2-40D3-146A-BE887D3D8DD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247745" y="1825625"/>
            <a:ext cx="5696509" cy="4351338"/>
          </a:xfrm>
        </p:spPr>
      </p:pic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9861BD23-593E-264E-3F9B-DD8581FA74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EED5AC-1242-4794-B0EE-05D093CD0FC2}" type="slidenum">
              <a:rPr lang="es-CL" smtClean="0"/>
              <a:t>16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26771381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B9261FF-2AC1-879D-D028-97E6FA3E9A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ABA7AEE-B7D0-A54B-FCEF-0FF4487779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436913"/>
          </a:xfrm>
          <a:solidFill>
            <a:schemeClr val="tx1"/>
          </a:solidFill>
        </p:spPr>
        <p:txBody>
          <a:bodyPr anchor="t">
            <a:normAutofit/>
          </a:bodyPr>
          <a:lstStyle/>
          <a:p>
            <a:br>
              <a:rPr lang="es-ES" sz="900" dirty="0"/>
            </a:br>
            <a:br>
              <a:rPr lang="es-ES" sz="900" dirty="0"/>
            </a:br>
            <a:br>
              <a:rPr lang="es-ES" sz="900" dirty="0"/>
            </a:br>
            <a:br>
              <a:rPr lang="es-ES" sz="900" dirty="0">
                <a:solidFill>
                  <a:schemeClr val="bg1"/>
                </a:solidFill>
              </a:rPr>
            </a:br>
            <a:r>
              <a:rPr lang="es-ES" sz="900" dirty="0">
                <a:solidFill>
                  <a:schemeClr val="bg1"/>
                </a:solidFill>
              </a:rPr>
              <a:t>                   </a:t>
            </a:r>
            <a:r>
              <a:rPr lang="es-ES" sz="4000" dirty="0" err="1">
                <a:solidFill>
                  <a:schemeClr val="bg1"/>
                </a:solidFill>
              </a:rPr>
              <a:t>Tensorflow</a:t>
            </a:r>
            <a:r>
              <a:rPr lang="es-ES" sz="4000" dirty="0">
                <a:solidFill>
                  <a:schemeClr val="bg1"/>
                </a:solidFill>
              </a:rPr>
              <a:t> Lite </a:t>
            </a:r>
            <a:r>
              <a:rPr lang="es-ES" sz="4000" dirty="0" err="1">
                <a:solidFill>
                  <a:schemeClr val="bg1"/>
                </a:solidFill>
              </a:rPr>
              <a:t>Hello</a:t>
            </a:r>
            <a:r>
              <a:rPr lang="es-ES" sz="4000" dirty="0">
                <a:solidFill>
                  <a:schemeClr val="bg1"/>
                </a:solidFill>
              </a:rPr>
              <a:t> </a:t>
            </a:r>
            <a:r>
              <a:rPr lang="es-ES" sz="4000" dirty="0" err="1">
                <a:solidFill>
                  <a:schemeClr val="bg1"/>
                </a:solidFill>
              </a:rPr>
              <a:t>World</a:t>
            </a:r>
            <a:r>
              <a:rPr lang="es-ES" sz="4000" dirty="0">
                <a:solidFill>
                  <a:schemeClr val="bg1"/>
                </a:solidFill>
              </a:rPr>
              <a:t>: Cuantización</a:t>
            </a:r>
            <a:endParaRPr lang="es-CL" sz="4000" dirty="0">
              <a:solidFill>
                <a:schemeClr val="bg1"/>
              </a:solidFill>
            </a:endParaRPr>
          </a:p>
        </p:txBody>
      </p:sp>
      <p:sp>
        <p:nvSpPr>
          <p:cNvPr id="16" name="Marcador de texto 15">
            <a:extLst>
              <a:ext uri="{FF2B5EF4-FFF2-40B4-BE49-F238E27FC236}">
                <a16:creationId xmlns:a16="http://schemas.microsoft.com/office/drawing/2014/main" id="{73E1425C-8D11-BD44-AF1B-E4157FC086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 dirty="0"/>
              <a:t>float32</a:t>
            </a:r>
            <a:endParaRPr lang="es-CL" dirty="0"/>
          </a:p>
        </p:txBody>
      </p:sp>
      <p:sp>
        <p:nvSpPr>
          <p:cNvPr id="18" name="Marcador de texto 17">
            <a:extLst>
              <a:ext uri="{FF2B5EF4-FFF2-40B4-BE49-F238E27FC236}">
                <a16:creationId xmlns:a16="http://schemas.microsoft.com/office/drawing/2014/main" id="{949ABA28-5C36-135C-B4FE-9895E0371A5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s-MX" dirty="0"/>
              <a:t>int8</a:t>
            </a:r>
            <a:endParaRPr lang="es-CL" dirty="0"/>
          </a:p>
        </p:txBody>
      </p:sp>
      <p:pic>
        <p:nvPicPr>
          <p:cNvPr id="22" name="Marcador de contenido 6">
            <a:extLst>
              <a:ext uri="{FF2B5EF4-FFF2-40B4-BE49-F238E27FC236}">
                <a16:creationId xmlns:a16="http://schemas.microsoft.com/office/drawing/2014/main" id="{7BD92F8C-22B0-628B-448F-9B1D4A4C95F5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1376288" y="2505075"/>
            <a:ext cx="4084786" cy="3684588"/>
          </a:xfrm>
          <a:prstGeom prst="rect">
            <a:avLst/>
          </a:prstGeom>
        </p:spPr>
      </p:pic>
      <p:pic>
        <p:nvPicPr>
          <p:cNvPr id="3" name="Marcador de contenido 12">
            <a:extLst>
              <a:ext uri="{FF2B5EF4-FFF2-40B4-BE49-F238E27FC236}">
                <a16:creationId xmlns:a16="http://schemas.microsoft.com/office/drawing/2014/main" id="{CC4722FC-BE70-84E8-C7FC-61E01A204E0D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4"/>
          <a:stretch>
            <a:fillRect/>
          </a:stretch>
        </p:blipFill>
        <p:spPr>
          <a:xfrm>
            <a:off x="6776411" y="2505075"/>
            <a:ext cx="3974766" cy="3684588"/>
          </a:xfrm>
        </p:spPr>
      </p:pic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0B2D6D0D-3223-C625-37FE-C04B3D23DC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EED5AC-1242-4794-B0EE-05D093CD0FC2}" type="slidenum">
              <a:rPr lang="es-CL" smtClean="0"/>
              <a:t>17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72313571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6A1A426-68C1-6651-F5DB-793E0546AC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4C4F94-5C6E-ED90-F5B2-2F113AF8AD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436913"/>
          </a:xfrm>
          <a:solidFill>
            <a:schemeClr val="tx1"/>
          </a:solidFill>
        </p:spPr>
        <p:txBody>
          <a:bodyPr anchor="t">
            <a:normAutofit/>
          </a:bodyPr>
          <a:lstStyle/>
          <a:p>
            <a:br>
              <a:rPr lang="es-ES" sz="900" dirty="0"/>
            </a:br>
            <a:br>
              <a:rPr lang="es-ES" sz="900" dirty="0"/>
            </a:br>
            <a:br>
              <a:rPr lang="es-ES" sz="900" dirty="0"/>
            </a:br>
            <a:br>
              <a:rPr lang="es-ES" sz="900" dirty="0">
                <a:solidFill>
                  <a:schemeClr val="bg1"/>
                </a:solidFill>
              </a:rPr>
            </a:br>
            <a:r>
              <a:rPr lang="es-ES" sz="900" dirty="0">
                <a:solidFill>
                  <a:schemeClr val="bg1"/>
                </a:solidFill>
              </a:rPr>
              <a:t>                   </a:t>
            </a:r>
            <a:r>
              <a:rPr lang="es-ES" sz="4000" dirty="0" err="1">
                <a:solidFill>
                  <a:schemeClr val="bg1"/>
                </a:solidFill>
              </a:rPr>
              <a:t>Tensorflow</a:t>
            </a:r>
            <a:r>
              <a:rPr lang="es-ES" sz="4000" dirty="0">
                <a:solidFill>
                  <a:schemeClr val="bg1"/>
                </a:solidFill>
              </a:rPr>
              <a:t> Lite </a:t>
            </a:r>
            <a:r>
              <a:rPr lang="es-ES" sz="4000" dirty="0" err="1">
                <a:solidFill>
                  <a:schemeClr val="bg1"/>
                </a:solidFill>
              </a:rPr>
              <a:t>Hello</a:t>
            </a:r>
            <a:r>
              <a:rPr lang="es-ES" sz="4000" dirty="0">
                <a:solidFill>
                  <a:schemeClr val="bg1"/>
                </a:solidFill>
              </a:rPr>
              <a:t> </a:t>
            </a:r>
            <a:r>
              <a:rPr lang="es-ES" sz="4000" dirty="0" err="1">
                <a:solidFill>
                  <a:schemeClr val="bg1"/>
                </a:solidFill>
              </a:rPr>
              <a:t>World</a:t>
            </a:r>
            <a:r>
              <a:rPr lang="es-ES" sz="4000" dirty="0">
                <a:solidFill>
                  <a:schemeClr val="bg1"/>
                </a:solidFill>
              </a:rPr>
              <a:t>: Cuantización</a:t>
            </a:r>
            <a:endParaRPr lang="es-CL" sz="4000" dirty="0">
              <a:solidFill>
                <a:schemeClr val="bg1"/>
              </a:solidFill>
            </a:endParaRPr>
          </a:p>
        </p:txBody>
      </p:sp>
      <p:sp>
        <p:nvSpPr>
          <p:cNvPr id="16" name="Marcador de texto 15">
            <a:extLst>
              <a:ext uri="{FF2B5EF4-FFF2-40B4-BE49-F238E27FC236}">
                <a16:creationId xmlns:a16="http://schemas.microsoft.com/office/drawing/2014/main" id="{CE7901E8-BAE2-47DD-BF05-E8E646DE9E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 dirty="0"/>
              <a:t>float32</a:t>
            </a:r>
            <a:endParaRPr lang="es-CL" dirty="0"/>
          </a:p>
        </p:txBody>
      </p:sp>
      <p:sp>
        <p:nvSpPr>
          <p:cNvPr id="18" name="Marcador de texto 17">
            <a:extLst>
              <a:ext uri="{FF2B5EF4-FFF2-40B4-BE49-F238E27FC236}">
                <a16:creationId xmlns:a16="http://schemas.microsoft.com/office/drawing/2014/main" id="{9453D092-B29D-9147-FAD6-2EE720CD6E7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s-MX" dirty="0"/>
              <a:t>int8</a:t>
            </a:r>
            <a:endParaRPr lang="es-CL" dirty="0"/>
          </a:p>
        </p:txBody>
      </p:sp>
      <p:pic>
        <p:nvPicPr>
          <p:cNvPr id="9" name="Marcador de contenido 8">
            <a:extLst>
              <a:ext uri="{FF2B5EF4-FFF2-40B4-BE49-F238E27FC236}">
                <a16:creationId xmlns:a16="http://schemas.microsoft.com/office/drawing/2014/main" id="{BC0C8767-F0E3-996E-BCF4-25F2635F132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1276144" y="2505075"/>
            <a:ext cx="4285074" cy="3684588"/>
          </a:xfrm>
        </p:spPr>
      </p:pic>
      <p:pic>
        <p:nvPicPr>
          <p:cNvPr id="13" name="Marcador de contenido 12">
            <a:extLst>
              <a:ext uri="{FF2B5EF4-FFF2-40B4-BE49-F238E27FC236}">
                <a16:creationId xmlns:a16="http://schemas.microsoft.com/office/drawing/2014/main" id="{70C7FFAF-EF27-43CC-E99C-BEC01ACD79FE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4"/>
          <a:stretch>
            <a:fillRect/>
          </a:stretch>
        </p:blipFill>
        <p:spPr>
          <a:xfrm>
            <a:off x="6576224" y="2505075"/>
            <a:ext cx="4375139" cy="3684588"/>
          </a:xfrm>
        </p:spPr>
      </p:pic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37519712-5038-DB89-A71A-646AB53B6E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EED5AC-1242-4794-B0EE-05D093CD0FC2}" type="slidenum">
              <a:rPr lang="es-CL" smtClean="0"/>
              <a:t>18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11143601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D3CF464-699D-F30C-B975-07E5F7880C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A8004C4-8380-9B15-59CB-D91AA05D8A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436913"/>
          </a:xfrm>
          <a:solidFill>
            <a:schemeClr val="tx1"/>
          </a:solidFill>
        </p:spPr>
        <p:txBody>
          <a:bodyPr anchor="t">
            <a:normAutofit/>
          </a:bodyPr>
          <a:lstStyle/>
          <a:p>
            <a:br>
              <a:rPr lang="es-ES" sz="900" dirty="0"/>
            </a:br>
            <a:br>
              <a:rPr lang="es-ES" sz="900" dirty="0"/>
            </a:br>
            <a:br>
              <a:rPr lang="es-ES" sz="900" dirty="0"/>
            </a:br>
            <a:br>
              <a:rPr lang="es-ES" sz="900" dirty="0">
                <a:solidFill>
                  <a:schemeClr val="bg1"/>
                </a:solidFill>
              </a:rPr>
            </a:br>
            <a:r>
              <a:rPr lang="es-ES" sz="900" dirty="0">
                <a:solidFill>
                  <a:schemeClr val="bg1"/>
                </a:solidFill>
              </a:rPr>
              <a:t>                   </a:t>
            </a:r>
            <a:r>
              <a:rPr lang="es-ES" sz="4000" dirty="0" err="1">
                <a:solidFill>
                  <a:schemeClr val="bg1"/>
                </a:solidFill>
              </a:rPr>
              <a:t>Tensorflow</a:t>
            </a:r>
            <a:r>
              <a:rPr lang="es-ES" sz="4000" dirty="0">
                <a:solidFill>
                  <a:schemeClr val="bg1"/>
                </a:solidFill>
              </a:rPr>
              <a:t> Lite </a:t>
            </a:r>
            <a:r>
              <a:rPr lang="es-ES" sz="4000" dirty="0" err="1">
                <a:solidFill>
                  <a:schemeClr val="bg1"/>
                </a:solidFill>
              </a:rPr>
              <a:t>Hello</a:t>
            </a:r>
            <a:r>
              <a:rPr lang="es-ES" sz="4000" dirty="0">
                <a:solidFill>
                  <a:schemeClr val="bg1"/>
                </a:solidFill>
              </a:rPr>
              <a:t> </a:t>
            </a:r>
            <a:r>
              <a:rPr lang="es-ES" sz="4000" dirty="0" err="1">
                <a:solidFill>
                  <a:schemeClr val="bg1"/>
                </a:solidFill>
              </a:rPr>
              <a:t>World</a:t>
            </a:r>
            <a:r>
              <a:rPr lang="es-ES" sz="4000" dirty="0">
                <a:solidFill>
                  <a:schemeClr val="bg1"/>
                </a:solidFill>
              </a:rPr>
              <a:t>: Cuantización</a:t>
            </a:r>
            <a:endParaRPr lang="es-CL" sz="4000" dirty="0">
              <a:solidFill>
                <a:schemeClr val="bg1"/>
              </a:solidFill>
            </a:endParaRPr>
          </a:p>
        </p:txBody>
      </p:sp>
      <p:pic>
        <p:nvPicPr>
          <p:cNvPr id="14" name="Imagen 13">
            <a:extLst>
              <a:ext uri="{FF2B5EF4-FFF2-40B4-BE49-F238E27FC236}">
                <a16:creationId xmlns:a16="http://schemas.microsoft.com/office/drawing/2014/main" id="{B3089C4F-6C11-7505-E03A-5DBD72760D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1560" y="1645920"/>
            <a:ext cx="9568880" cy="4861560"/>
          </a:xfrm>
          <a:prstGeom prst="rect">
            <a:avLst/>
          </a:prstGeom>
        </p:spPr>
      </p:pic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6D715539-B8AF-B87A-EE31-B835CD0952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EED5AC-1242-4794-B0EE-05D093CD0FC2}" type="slidenum">
              <a:rPr lang="es-CL" smtClean="0"/>
              <a:t>19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27770038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EA8CD9-5FE5-58F5-1F48-161BD3C092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09B2D43-0077-B329-DF21-761CF80BE4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 err="1"/>
              <a:t>Finger</a:t>
            </a:r>
            <a:r>
              <a:rPr lang="es-MX" dirty="0"/>
              <a:t> </a:t>
            </a:r>
            <a:r>
              <a:rPr lang="es-MX" dirty="0" err="1"/>
              <a:t>Flexion</a:t>
            </a:r>
            <a:r>
              <a:rPr lang="es-MX" dirty="0"/>
              <a:t> </a:t>
            </a:r>
            <a:r>
              <a:rPr lang="es-MX" dirty="0" err="1"/>
              <a:t>Detection</a:t>
            </a:r>
            <a:endParaRPr lang="es-CL" dirty="0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A402867D-83C9-F29A-D39C-4466317FCC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 dirty="0" err="1"/>
              <a:t>TensorFlow</a:t>
            </a:r>
            <a:r>
              <a:rPr lang="es-MX" dirty="0"/>
              <a:t> Lite + STM32Cube.AI</a:t>
            </a:r>
            <a:endParaRPr lang="es-CL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BF7B911A-7FA8-9B86-9EDC-136A2A7443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EED5AC-1242-4794-B0EE-05D093CD0FC2}" type="slidenum">
              <a:rPr lang="es-CL" smtClean="0"/>
              <a:t>20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76411746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324AACA-4049-23DD-8726-1EF7C5CEA8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1A19657-0FF5-7357-80C9-A3131A2AE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" y="-5705"/>
            <a:ext cx="12191990" cy="169434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AF2465AB-D3C1-119E-C808-A1EA2FEDC3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6851" y="637762"/>
            <a:ext cx="9888496" cy="900131"/>
          </a:xfrm>
        </p:spPr>
        <p:txBody>
          <a:bodyPr anchor="t">
            <a:normAutofit/>
          </a:bodyPr>
          <a:lstStyle/>
          <a:p>
            <a:r>
              <a:rPr lang="es-ES" sz="4000" dirty="0" err="1">
                <a:solidFill>
                  <a:schemeClr val="bg1"/>
                </a:solidFill>
              </a:rPr>
              <a:t>Finger</a:t>
            </a:r>
            <a:r>
              <a:rPr lang="es-ES" sz="4000" dirty="0">
                <a:solidFill>
                  <a:schemeClr val="bg1"/>
                </a:solidFill>
              </a:rPr>
              <a:t> </a:t>
            </a:r>
            <a:r>
              <a:rPr lang="es-ES" sz="4000" dirty="0" err="1">
                <a:solidFill>
                  <a:schemeClr val="bg1"/>
                </a:solidFill>
              </a:rPr>
              <a:t>Flexion</a:t>
            </a:r>
            <a:r>
              <a:rPr lang="es-ES" sz="4000" dirty="0">
                <a:solidFill>
                  <a:schemeClr val="bg1"/>
                </a:solidFill>
              </a:rPr>
              <a:t>: Raima Sen</a:t>
            </a:r>
            <a:endParaRPr lang="es-CL" sz="4000" dirty="0">
              <a:solidFill>
                <a:schemeClr val="bg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9A50359-7234-9D0D-80A9-260EDF8810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688641"/>
            <a:ext cx="12191990" cy="516935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AB21022-A7E6-AB57-41CB-7DF58200AA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56851" y="2010758"/>
            <a:ext cx="457190" cy="457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Marcador de contenido 5">
            <a:extLst>
              <a:ext uri="{FF2B5EF4-FFF2-40B4-BE49-F238E27FC236}">
                <a16:creationId xmlns:a16="http://schemas.microsoft.com/office/drawing/2014/main" id="{BFF888A9-4EA3-14F1-673C-E9F92049567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2133245" y="2010758"/>
            <a:ext cx="3735474" cy="4351338"/>
          </a:xfr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D505FF7D-DF5E-EE38-2C3E-D5EA41464E3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81724" y="-5705"/>
            <a:ext cx="1273493" cy="6858000"/>
          </a:xfrm>
          <a:prstGeom prst="rect">
            <a:avLst/>
          </a:prstGeom>
        </p:spPr>
      </p:pic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DE9CC9BB-99FC-4B08-9701-58C98F014A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EED5AC-1242-4794-B0EE-05D093CD0FC2}" type="slidenum">
              <a:rPr lang="es-CL" smtClean="0"/>
              <a:t>21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52536458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DF158B2-0436-FDB6-69D9-1C77581459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925B0879-D4BD-DC42-0391-9F0E69ACE8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" y="-5705"/>
            <a:ext cx="12191990" cy="169434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7FD8C851-A9DB-7EB0-20CC-3519FC1675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6851" y="637762"/>
            <a:ext cx="9888496" cy="900131"/>
          </a:xfrm>
        </p:spPr>
        <p:txBody>
          <a:bodyPr anchor="t">
            <a:normAutofit/>
          </a:bodyPr>
          <a:lstStyle/>
          <a:p>
            <a:r>
              <a:rPr lang="es-ES" sz="4000" dirty="0" err="1">
                <a:solidFill>
                  <a:schemeClr val="bg1"/>
                </a:solidFill>
              </a:rPr>
              <a:t>Finger</a:t>
            </a:r>
            <a:r>
              <a:rPr lang="es-ES" sz="4000" dirty="0">
                <a:solidFill>
                  <a:schemeClr val="bg1"/>
                </a:solidFill>
              </a:rPr>
              <a:t> </a:t>
            </a:r>
            <a:r>
              <a:rPr lang="es-ES" sz="4000" dirty="0" err="1">
                <a:solidFill>
                  <a:schemeClr val="bg1"/>
                </a:solidFill>
              </a:rPr>
              <a:t>Flexion</a:t>
            </a:r>
            <a:r>
              <a:rPr lang="es-ES" sz="4000" dirty="0">
                <a:solidFill>
                  <a:schemeClr val="bg1"/>
                </a:solidFill>
              </a:rPr>
              <a:t>: Raima Sen</a:t>
            </a:r>
            <a:endParaRPr lang="es-CL" sz="4000" dirty="0">
              <a:solidFill>
                <a:schemeClr val="bg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0C481E7-933C-7669-685D-ADBF57D7C4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688641"/>
            <a:ext cx="12191990" cy="516935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E38C7B9-DB80-A552-5C3E-35D0061C10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56851" y="2010758"/>
            <a:ext cx="457190" cy="457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Marcador de contenido 5">
            <a:extLst>
              <a:ext uri="{FF2B5EF4-FFF2-40B4-BE49-F238E27FC236}">
                <a16:creationId xmlns:a16="http://schemas.microsoft.com/office/drawing/2014/main" id="{144A7ECF-73E6-9219-8122-6B38CD38968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247514" y="2010758"/>
            <a:ext cx="7900473" cy="4351338"/>
          </a:xfr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77B1CE95-D247-463D-8B53-0A95EF3BB9B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79415" y="3697165"/>
            <a:ext cx="3465071" cy="1325564"/>
          </a:xfrm>
          <a:prstGeom prst="rect">
            <a:avLst/>
          </a:prstGeom>
        </p:spPr>
      </p:pic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4B016EBD-B296-65CF-F205-F6C215132E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EED5AC-1242-4794-B0EE-05D093CD0FC2}" type="slidenum">
              <a:rPr lang="es-CL" smtClean="0"/>
              <a:t>22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9524370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5B9410D-7537-45C9-8138-3255DF3176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002669A5-4BDB-ECBC-C301-8E16C09E21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" y="-5705"/>
            <a:ext cx="12191990" cy="169434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E19DE93E-F76A-1D56-C9DA-F441A60760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6851" y="637762"/>
            <a:ext cx="9888496" cy="900131"/>
          </a:xfrm>
        </p:spPr>
        <p:txBody>
          <a:bodyPr anchor="t">
            <a:normAutofit/>
          </a:bodyPr>
          <a:lstStyle/>
          <a:p>
            <a:r>
              <a:rPr lang="es-ES" sz="4000" dirty="0" err="1">
                <a:solidFill>
                  <a:schemeClr val="bg1"/>
                </a:solidFill>
              </a:rPr>
              <a:t>Finger</a:t>
            </a:r>
            <a:r>
              <a:rPr lang="es-ES" sz="4000" dirty="0">
                <a:solidFill>
                  <a:schemeClr val="bg1"/>
                </a:solidFill>
              </a:rPr>
              <a:t> </a:t>
            </a:r>
            <a:r>
              <a:rPr lang="es-ES" sz="4000" dirty="0" err="1">
                <a:solidFill>
                  <a:schemeClr val="bg1"/>
                </a:solidFill>
              </a:rPr>
              <a:t>Flexion</a:t>
            </a:r>
            <a:r>
              <a:rPr lang="es-ES" sz="4000" dirty="0">
                <a:solidFill>
                  <a:schemeClr val="bg1"/>
                </a:solidFill>
              </a:rPr>
              <a:t>: Raima Sen – Cuantización</a:t>
            </a:r>
            <a:endParaRPr lang="es-CL" sz="4000" dirty="0">
              <a:solidFill>
                <a:schemeClr val="bg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9A4BA48-2D9F-897D-0893-7F315B2ED8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688641"/>
            <a:ext cx="12191990" cy="516935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0DC7151-EFC1-F5E7-7340-804A9654A9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56851" y="2010758"/>
            <a:ext cx="457190" cy="457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CF30AFB1-8A82-88BB-9B60-A2C4E34FB0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CL" dirty="0"/>
          </a:p>
        </p:txBody>
      </p:sp>
      <p:pic>
        <p:nvPicPr>
          <p:cNvPr id="7" name="Marcador de contenido 5">
            <a:extLst>
              <a:ext uri="{FF2B5EF4-FFF2-40B4-BE49-F238E27FC236}">
                <a16:creationId xmlns:a16="http://schemas.microsoft.com/office/drawing/2014/main" id="{2E9372BD-9286-BE63-48CA-D1A8DAE7AF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7514" y="2181360"/>
            <a:ext cx="7830913" cy="4045268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CAED04F6-F118-53B7-F0C0-008492EDA7D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62612" y="3824169"/>
            <a:ext cx="3639175" cy="1145953"/>
          </a:xfrm>
          <a:prstGeom prst="rect">
            <a:avLst/>
          </a:prstGeom>
        </p:spPr>
      </p:pic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D36FD3AA-7788-B646-E67B-88B8F0AD8F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EED5AC-1242-4794-B0EE-05D093CD0FC2}" type="slidenum">
              <a:rPr lang="es-CL" smtClean="0"/>
              <a:t>23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95039486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829F108-4648-4F2E-224C-D6162D8BDA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9E4EC3A6-B1F5-C359-8F74-3D4CA0F289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" y="-5705"/>
            <a:ext cx="12191990" cy="169434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8F98BCE1-8489-EAA8-B1E5-2C58299C55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6851" y="637762"/>
            <a:ext cx="9888496" cy="900131"/>
          </a:xfrm>
        </p:spPr>
        <p:txBody>
          <a:bodyPr anchor="t">
            <a:normAutofit/>
          </a:bodyPr>
          <a:lstStyle/>
          <a:p>
            <a:r>
              <a:rPr lang="es-ES" sz="4000" dirty="0" err="1">
                <a:solidFill>
                  <a:schemeClr val="bg1"/>
                </a:solidFill>
              </a:rPr>
              <a:t>Finger</a:t>
            </a:r>
            <a:r>
              <a:rPr lang="es-ES" sz="4000" dirty="0">
                <a:solidFill>
                  <a:schemeClr val="bg1"/>
                </a:solidFill>
              </a:rPr>
              <a:t> </a:t>
            </a:r>
            <a:r>
              <a:rPr lang="es-ES" sz="4000" dirty="0" err="1">
                <a:solidFill>
                  <a:schemeClr val="bg1"/>
                </a:solidFill>
              </a:rPr>
              <a:t>Flexion</a:t>
            </a:r>
            <a:r>
              <a:rPr lang="es-ES" sz="4000" dirty="0">
                <a:solidFill>
                  <a:schemeClr val="bg1"/>
                </a:solidFill>
              </a:rPr>
              <a:t>: Modelo Implementado</a:t>
            </a:r>
            <a:endParaRPr lang="es-CL" sz="4000" dirty="0">
              <a:solidFill>
                <a:schemeClr val="bg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7364C59-E333-AAD0-9B90-07A633CFC5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688641"/>
            <a:ext cx="12191990" cy="516935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5ABE173-F88D-2B1C-42A8-37B89F0E86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56851" y="2010758"/>
            <a:ext cx="457190" cy="457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Marcador de contenido 6">
            <a:extLst>
              <a:ext uri="{FF2B5EF4-FFF2-40B4-BE49-F238E27FC236}">
                <a16:creationId xmlns:a16="http://schemas.microsoft.com/office/drawing/2014/main" id="{E907B639-BEAF-CE9E-2E0A-26F24D9100E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838200" y="3231542"/>
            <a:ext cx="10515600" cy="1539504"/>
          </a:xfrm>
        </p:spPr>
      </p:pic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E5022D5C-2E9A-3232-8617-A0D07CF93A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EED5AC-1242-4794-B0EE-05D093CD0FC2}" type="slidenum">
              <a:rPr lang="es-CL" smtClean="0"/>
              <a:t>24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00214631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598C0BB-10AB-0C84-73B5-C6943A5AD3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AA92E18A-AECC-479F-7851-E53D65EAB0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" y="-5705"/>
            <a:ext cx="12191990" cy="169434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4A798027-2628-A721-1D52-D62FA98562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6851" y="637762"/>
            <a:ext cx="9888496" cy="900131"/>
          </a:xfrm>
        </p:spPr>
        <p:txBody>
          <a:bodyPr anchor="t">
            <a:normAutofit/>
          </a:bodyPr>
          <a:lstStyle/>
          <a:p>
            <a:r>
              <a:rPr lang="es-ES" sz="4000" dirty="0" err="1">
                <a:solidFill>
                  <a:schemeClr val="bg1"/>
                </a:solidFill>
              </a:rPr>
              <a:t>Finger</a:t>
            </a:r>
            <a:r>
              <a:rPr lang="es-ES" sz="4000" dirty="0">
                <a:solidFill>
                  <a:schemeClr val="bg1"/>
                </a:solidFill>
              </a:rPr>
              <a:t> </a:t>
            </a:r>
            <a:r>
              <a:rPr lang="es-ES" sz="4000" dirty="0" err="1">
                <a:solidFill>
                  <a:schemeClr val="bg1"/>
                </a:solidFill>
              </a:rPr>
              <a:t>Flexion</a:t>
            </a:r>
            <a:r>
              <a:rPr lang="es-ES" sz="4000" dirty="0">
                <a:solidFill>
                  <a:schemeClr val="bg1"/>
                </a:solidFill>
              </a:rPr>
              <a:t>: Modelos Implementados</a:t>
            </a:r>
            <a:endParaRPr lang="es-CL" sz="4000" dirty="0">
              <a:solidFill>
                <a:schemeClr val="bg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9CC84F5-5483-D325-4E9D-0D184BDF89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688641"/>
            <a:ext cx="12191990" cy="516935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1F9E541-6FA5-3D51-5E94-7F5D5DFDDF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56851" y="2010758"/>
            <a:ext cx="457190" cy="457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BC7373D8-8AFE-E980-C1D8-6318FB19BC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CL"/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7815B9B1-53F1-A638-98A5-EC21CA321E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2544" y="1890498"/>
            <a:ext cx="11726912" cy="3077004"/>
          </a:xfrm>
          <a:prstGeom prst="rect">
            <a:avLst/>
          </a:prstGeom>
        </p:spPr>
      </p:pic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F1B05410-35CA-45FF-38C3-FD6A3B6F30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EED5AC-1242-4794-B0EE-05D093CD0FC2}" type="slidenum">
              <a:rPr lang="es-CL" smtClean="0"/>
              <a:t>25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30858152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B882ADB-5869-36BB-1732-11D5FF82E1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7ABD5C7C-3307-2067-1B12-7E5EE459B1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" y="-5705"/>
            <a:ext cx="12191990" cy="169434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3563B652-C843-FAA1-BB3C-30361DBEF4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6851" y="637762"/>
            <a:ext cx="9888496" cy="900131"/>
          </a:xfrm>
        </p:spPr>
        <p:txBody>
          <a:bodyPr anchor="t">
            <a:normAutofit/>
          </a:bodyPr>
          <a:lstStyle/>
          <a:p>
            <a:r>
              <a:rPr lang="es-ES" sz="4000" dirty="0" err="1">
                <a:solidFill>
                  <a:schemeClr val="bg1"/>
                </a:solidFill>
              </a:rPr>
              <a:t>Finger</a:t>
            </a:r>
            <a:r>
              <a:rPr lang="es-ES" sz="4000" dirty="0">
                <a:solidFill>
                  <a:schemeClr val="bg1"/>
                </a:solidFill>
              </a:rPr>
              <a:t> </a:t>
            </a:r>
            <a:r>
              <a:rPr lang="es-ES" sz="4000" dirty="0" err="1">
                <a:solidFill>
                  <a:schemeClr val="bg1"/>
                </a:solidFill>
              </a:rPr>
              <a:t>Flexion</a:t>
            </a:r>
            <a:r>
              <a:rPr lang="es-ES" sz="4000" dirty="0">
                <a:solidFill>
                  <a:schemeClr val="bg1"/>
                </a:solidFill>
              </a:rPr>
              <a:t>: Desempeño</a:t>
            </a:r>
            <a:endParaRPr lang="es-CL" sz="4000" dirty="0">
              <a:solidFill>
                <a:schemeClr val="bg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7A2A74D-D412-3751-8132-68F0DC07BE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688641"/>
            <a:ext cx="12191990" cy="516935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5ADDB36-6BBB-7B84-A516-31A47FE24F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56851" y="2010758"/>
            <a:ext cx="457190" cy="457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Marcador de contenido 4">
            <a:extLst>
              <a:ext uri="{FF2B5EF4-FFF2-40B4-BE49-F238E27FC236}">
                <a16:creationId xmlns:a16="http://schemas.microsoft.com/office/drawing/2014/main" id="{5113BF82-CCB5-766A-6904-8CFEE03B524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838200" y="2718740"/>
            <a:ext cx="10515600" cy="2565108"/>
          </a:xfrm>
        </p:spPr>
      </p:pic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09489963-5E1B-3B43-A96C-FA8C429846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EED5AC-1242-4794-B0EE-05D093CD0FC2}" type="slidenum">
              <a:rPr lang="es-CL" smtClean="0"/>
              <a:t>26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27170104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ECDD6ED-92B0-957F-AEED-28CE26A1CE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A8FFDFCE-2DC1-7AAE-592D-74314FFFAC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" y="-5705"/>
            <a:ext cx="12191990" cy="169434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A906BA36-5B62-2E9E-86E4-67795CA422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6851" y="637762"/>
            <a:ext cx="9888496" cy="900131"/>
          </a:xfrm>
        </p:spPr>
        <p:txBody>
          <a:bodyPr anchor="t">
            <a:normAutofit/>
          </a:bodyPr>
          <a:lstStyle/>
          <a:p>
            <a:r>
              <a:rPr lang="es-ES" sz="4000" dirty="0" err="1">
                <a:solidFill>
                  <a:schemeClr val="bg1"/>
                </a:solidFill>
              </a:rPr>
              <a:t>Finger</a:t>
            </a:r>
            <a:r>
              <a:rPr lang="es-ES" sz="4000" dirty="0">
                <a:solidFill>
                  <a:schemeClr val="bg1"/>
                </a:solidFill>
              </a:rPr>
              <a:t> </a:t>
            </a:r>
            <a:r>
              <a:rPr lang="es-ES" sz="4000" dirty="0" err="1">
                <a:solidFill>
                  <a:schemeClr val="bg1"/>
                </a:solidFill>
              </a:rPr>
              <a:t>Flexion</a:t>
            </a:r>
            <a:r>
              <a:rPr lang="es-ES" sz="4000" dirty="0">
                <a:solidFill>
                  <a:schemeClr val="bg1"/>
                </a:solidFill>
              </a:rPr>
              <a:t>: Desempeño</a:t>
            </a:r>
            <a:endParaRPr lang="es-CL" sz="4000" dirty="0">
              <a:solidFill>
                <a:schemeClr val="bg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8644DE2-9EEE-01EF-8FB6-CC54C80FAF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688641"/>
            <a:ext cx="12191990" cy="516935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932CCA9-6841-D804-6E45-37E80388B1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56851" y="2010758"/>
            <a:ext cx="457190" cy="457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Marcador de contenido 6">
            <a:extLst>
              <a:ext uri="{FF2B5EF4-FFF2-40B4-BE49-F238E27FC236}">
                <a16:creationId xmlns:a16="http://schemas.microsoft.com/office/drawing/2014/main" id="{AB6A0D16-914B-8BE6-D93B-717182B2AA4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270516" y="1825625"/>
            <a:ext cx="9650967" cy="4351338"/>
          </a:xfrm>
        </p:spPr>
      </p:pic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FDABDD0A-6291-118F-4AFA-59E397A72C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EED5AC-1242-4794-B0EE-05D093CD0FC2}" type="slidenum">
              <a:rPr lang="es-CL" smtClean="0"/>
              <a:t>27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10652002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A3D17C-6883-B097-234D-F8FB1B357A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E45FF1CE-383C-C78E-A2FD-B479F1BF5D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" y="-5705"/>
            <a:ext cx="12191990" cy="169434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A81F9AC6-5C64-0511-9803-7A16F238B4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6851" y="637762"/>
            <a:ext cx="9888496" cy="900131"/>
          </a:xfrm>
        </p:spPr>
        <p:txBody>
          <a:bodyPr anchor="t">
            <a:normAutofit/>
          </a:bodyPr>
          <a:lstStyle/>
          <a:p>
            <a:r>
              <a:rPr lang="es-ES" sz="4000" dirty="0" err="1">
                <a:solidFill>
                  <a:schemeClr val="bg1"/>
                </a:solidFill>
              </a:rPr>
              <a:t>Finger</a:t>
            </a:r>
            <a:r>
              <a:rPr lang="es-ES" sz="4000" dirty="0">
                <a:solidFill>
                  <a:schemeClr val="bg1"/>
                </a:solidFill>
              </a:rPr>
              <a:t> </a:t>
            </a:r>
            <a:r>
              <a:rPr lang="es-ES" sz="4000" dirty="0" err="1">
                <a:solidFill>
                  <a:schemeClr val="bg1"/>
                </a:solidFill>
              </a:rPr>
              <a:t>Flexion</a:t>
            </a:r>
            <a:r>
              <a:rPr lang="es-ES" sz="4000" dirty="0">
                <a:solidFill>
                  <a:schemeClr val="bg1"/>
                </a:solidFill>
              </a:rPr>
              <a:t>: Desempeño</a:t>
            </a:r>
            <a:endParaRPr lang="es-CL" sz="4000" dirty="0">
              <a:solidFill>
                <a:schemeClr val="bg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C08E129-12FD-6CE4-8D5E-368EDDDAC8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688641"/>
            <a:ext cx="12191990" cy="516935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0AD94DE-5E24-483A-5654-CBAE351385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56851" y="2010758"/>
            <a:ext cx="457190" cy="457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Marcador de contenido 5">
            <a:extLst>
              <a:ext uri="{FF2B5EF4-FFF2-40B4-BE49-F238E27FC236}">
                <a16:creationId xmlns:a16="http://schemas.microsoft.com/office/drawing/2014/main" id="{BE5C6D5D-3DCE-5AE6-65D8-CD055DF0B86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258336" y="1825625"/>
            <a:ext cx="9675327" cy="4351338"/>
          </a:xfrm>
        </p:spPr>
      </p:pic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AF40C8C2-2A14-FDB7-33C2-3DF03494B2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EED5AC-1242-4794-B0EE-05D093CD0FC2}" type="slidenum">
              <a:rPr lang="es-CL" smtClean="0"/>
              <a:t>28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45172314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ítulo 7">
            <a:extLst>
              <a:ext uri="{FF2B5EF4-FFF2-40B4-BE49-F238E27FC236}">
                <a16:creationId xmlns:a16="http://schemas.microsoft.com/office/drawing/2014/main" id="{3417E89B-C095-F310-3299-342334DCF1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Trabajo Futuro</a:t>
            </a:r>
            <a:endParaRPr lang="es-CL" dirty="0"/>
          </a:p>
        </p:txBody>
      </p:sp>
      <p:sp>
        <p:nvSpPr>
          <p:cNvPr id="9" name="Marcador de texto 8">
            <a:extLst>
              <a:ext uri="{FF2B5EF4-FFF2-40B4-BE49-F238E27FC236}">
                <a16:creationId xmlns:a16="http://schemas.microsoft.com/office/drawing/2014/main" id="{82359CBC-AFBC-E8F2-B142-5F0076ED9F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s-MX" dirty="0"/>
              <a:t>Preprocesamiento en STM32</a:t>
            </a:r>
          </a:p>
          <a:p>
            <a:r>
              <a:rPr lang="es-MX" dirty="0"/>
              <a:t>DMA</a:t>
            </a:r>
          </a:p>
          <a:p>
            <a:r>
              <a:rPr lang="es-MX" dirty="0"/>
              <a:t>CNN-LSTM</a:t>
            </a:r>
          </a:p>
          <a:p>
            <a:r>
              <a:rPr lang="es-MX" dirty="0"/>
              <a:t>Visualización</a:t>
            </a:r>
            <a:endParaRPr lang="es-CL" dirty="0"/>
          </a:p>
        </p:txBody>
      </p:sp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B760655C-F5A0-6A11-AC65-BF5F6C3ABC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EED5AC-1242-4794-B0EE-05D093CD0FC2}" type="slidenum">
              <a:rPr lang="es-CL" smtClean="0"/>
              <a:t>29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22676861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66A733CF-15FA-A330-C646-FC421ABB08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EED5AC-1242-4794-B0EE-05D093CD0FC2}" type="slidenum">
              <a:rPr lang="es-CL" smtClean="0"/>
              <a:t>30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81972786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931C611-7A47-5E11-4D6D-68AB020D22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BCI</a:t>
            </a:r>
            <a:endParaRPr lang="es-CL" dirty="0"/>
          </a:p>
        </p:txBody>
      </p:sp>
      <p:pic>
        <p:nvPicPr>
          <p:cNvPr id="4" name="Marcador de contenido 5" descr="Diagrama&#10;&#10;El contenido generado por IA puede ser incorrecto.">
            <a:extLst>
              <a:ext uri="{FF2B5EF4-FFF2-40B4-BE49-F238E27FC236}">
                <a16:creationId xmlns:a16="http://schemas.microsoft.com/office/drawing/2014/main" id="{E8823036-AF50-0088-FA32-0F3BB593715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86619" y="1825625"/>
            <a:ext cx="5218761" cy="4351338"/>
          </a:xfrm>
          <a:prstGeom prst="rect">
            <a:avLst/>
          </a:prstGeom>
        </p:spPr>
      </p:pic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9C563968-EB91-8372-1792-C6AAE2375B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EED5AC-1242-4794-B0EE-05D093CD0FC2}" type="slidenum">
              <a:rPr lang="es-CL" smtClean="0"/>
              <a:t>31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1260143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4417163-79C7-E82A-CF65-2A0B854C96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Pearson</a:t>
            </a:r>
            <a:endParaRPr lang="es-CL" dirty="0"/>
          </a:p>
        </p:txBody>
      </p:sp>
      <p:pic>
        <p:nvPicPr>
          <p:cNvPr id="4" name="Marcador de contenido 4">
            <a:extLst>
              <a:ext uri="{FF2B5EF4-FFF2-40B4-BE49-F238E27FC236}">
                <a16:creationId xmlns:a16="http://schemas.microsoft.com/office/drawing/2014/main" id="{F0ADD7D5-CD94-E448-4971-9A917AB5137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319075" y="2138896"/>
            <a:ext cx="5553850" cy="3724795"/>
          </a:xfrm>
          <a:prstGeom prst="rect">
            <a:avLst/>
          </a:prstGeom>
        </p:spPr>
      </p:pic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B34699ED-792D-6347-E46B-06A6749A98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EED5AC-1242-4794-B0EE-05D093CD0FC2}" type="slidenum">
              <a:rPr lang="es-CL" smtClean="0"/>
              <a:t>32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75109881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5570F1D-2627-ED19-E73B-BB1AB31C0E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63072DDB-4B12-A6FB-5956-BD0890068C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" y="-5705"/>
            <a:ext cx="12191990" cy="169434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4643E495-2C42-9883-0C0A-E09CFA7AE0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6851" y="637762"/>
            <a:ext cx="9888496" cy="900131"/>
          </a:xfrm>
        </p:spPr>
        <p:txBody>
          <a:bodyPr anchor="t">
            <a:normAutofit/>
          </a:bodyPr>
          <a:lstStyle/>
          <a:p>
            <a:r>
              <a:rPr lang="es-MX" sz="4000" dirty="0">
                <a:solidFill>
                  <a:schemeClr val="bg1"/>
                </a:solidFill>
              </a:rPr>
              <a:t>Neural Networks</a:t>
            </a:r>
            <a:endParaRPr lang="es-CL" sz="4000" dirty="0">
              <a:solidFill>
                <a:schemeClr val="bg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7DF9E69-5502-CD74-EAAD-145AF39509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688641"/>
            <a:ext cx="12191990" cy="516935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C36D101-CEBE-2854-A161-388D6EF982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56851" y="2010758"/>
            <a:ext cx="457190" cy="457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Marcador de contenido 4">
            <a:extLst>
              <a:ext uri="{FF2B5EF4-FFF2-40B4-BE49-F238E27FC236}">
                <a16:creationId xmlns:a16="http://schemas.microsoft.com/office/drawing/2014/main" id="{19D24745-107C-57F5-3544-E730030AD17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033687" y="1825625"/>
            <a:ext cx="6124625" cy="4351338"/>
          </a:xfrm>
          <a:prstGeom prst="rect">
            <a:avLst/>
          </a:prstGeom>
        </p:spPr>
      </p:pic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20714503-69ED-91E3-5749-9E70BCE7B6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EED5AC-1242-4794-B0EE-05D093CD0FC2}" type="slidenum">
              <a:rPr lang="es-CL" smtClean="0"/>
              <a:t>33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4777487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9B008E6-9FDA-B8B1-3FDE-2664ED1EA9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AD388957-5E01-F6BD-98D9-37C86C1C5F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" y="-5705"/>
            <a:ext cx="12191990" cy="169434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A4A825E9-2D75-EFD4-5DD1-8A20B05190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6851" y="637762"/>
            <a:ext cx="9888496" cy="900131"/>
          </a:xfrm>
        </p:spPr>
        <p:txBody>
          <a:bodyPr anchor="t">
            <a:normAutofit/>
          </a:bodyPr>
          <a:lstStyle/>
          <a:p>
            <a:r>
              <a:rPr lang="es-MX" sz="4000" dirty="0" err="1">
                <a:solidFill>
                  <a:schemeClr val="bg1"/>
                </a:solidFill>
              </a:rPr>
              <a:t>Datasets</a:t>
            </a:r>
            <a:r>
              <a:rPr lang="es-MX" sz="4000" dirty="0">
                <a:solidFill>
                  <a:schemeClr val="bg1"/>
                </a:solidFill>
              </a:rPr>
              <a:t> BCI C IV</a:t>
            </a:r>
            <a:endParaRPr lang="es-CL" sz="4000" dirty="0">
              <a:solidFill>
                <a:schemeClr val="bg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7C51288-19E5-A711-C34B-910D90DE99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688641"/>
            <a:ext cx="12191990" cy="516935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4847EA9-CD09-C78A-91E5-B0D3AB5731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56851" y="2010758"/>
            <a:ext cx="457190" cy="457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8AA5098-2641-C8AD-DC13-AAE3E6D9E8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207225"/>
            <a:ext cx="10515600" cy="3969738"/>
          </a:xfrm>
        </p:spPr>
        <p:txBody>
          <a:bodyPr numCol="2">
            <a:normAutofit/>
          </a:bodyPr>
          <a:lstStyle/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s-E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  <a:hlinkClick r:id="rId2"/>
              </a:rPr>
              <a:t>Dataset1</a:t>
            </a:r>
            <a:r>
              <a:rPr kumimoji="0" lang="es-E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2 clases, 7 sujetos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s-E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Dataset2</a:t>
            </a: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s-E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  <a:hlinkClick r:id="rId3"/>
              </a:rPr>
              <a:t>Dataset2a</a:t>
            </a:r>
            <a:r>
              <a:rPr kumimoji="0" lang="es-E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4 clases, 9 sujetos</a:t>
            </a: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s-E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  <a:hlinkClick r:id="rId4"/>
              </a:rPr>
              <a:t>Dataset2b</a:t>
            </a:r>
            <a:r>
              <a:rPr kumimoji="0" lang="es-E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2 clases, 9 sujetos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s-E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  <a:hlinkClick r:id="rId5"/>
              </a:rPr>
              <a:t>Dataset3</a:t>
            </a:r>
            <a:r>
              <a:rPr kumimoji="0" lang="es-E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4 clases, 2 sujetos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s-E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  <a:hlinkClick r:id="rId6"/>
              </a:rPr>
              <a:t>Dataset4</a:t>
            </a:r>
            <a:r>
              <a:rPr kumimoji="0" lang="es-E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5 clases, 3 sujetos</a:t>
            </a: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s-E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s-E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s-E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s-E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Mano izquierda y derecha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s-E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</a:t>
            </a:r>
            <a:endParaRPr kumimoji="0" lang="es-ES" sz="8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  <a:hlinkClick r:id="rId3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Mano izquierda y derecha, pies y lengua</a:t>
            </a: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Mano izquierda y derecha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s-E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Muñeca hacia la izquierda, derecha, arriba y abajo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s-E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Posiciones de los dedos</a:t>
            </a:r>
          </a:p>
          <a:p>
            <a:endParaRPr lang="es-CL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1840C991-A6D1-70B5-9F43-A8FE74D448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EED5AC-1242-4794-B0EE-05D093CD0FC2}" type="slidenum">
              <a:rPr lang="es-CL" smtClean="0"/>
              <a:t>34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22613414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091EF14-837C-5EE4-029B-0576490C5F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A426B15B-7571-EDA0-5653-D16CBDD875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" y="-5705"/>
            <a:ext cx="12191990" cy="169434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1F8974FF-70B2-B178-702D-3148AAA33C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6851" y="637762"/>
            <a:ext cx="9888496" cy="900131"/>
          </a:xfrm>
        </p:spPr>
        <p:txBody>
          <a:bodyPr anchor="t">
            <a:normAutofit/>
          </a:bodyPr>
          <a:lstStyle/>
          <a:p>
            <a:r>
              <a:rPr lang="es-ES" sz="4000" dirty="0" err="1">
                <a:solidFill>
                  <a:schemeClr val="bg1"/>
                </a:solidFill>
              </a:rPr>
              <a:t>Dataset</a:t>
            </a:r>
            <a:r>
              <a:rPr lang="es-ES" sz="4000" dirty="0">
                <a:solidFill>
                  <a:schemeClr val="bg1"/>
                </a:solidFill>
              </a:rPr>
              <a:t> BCICIV-4</a:t>
            </a:r>
            <a:endParaRPr lang="es-CL" sz="4000" dirty="0">
              <a:solidFill>
                <a:schemeClr val="bg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5B1F658-18E6-9760-2B9B-5A3AD3C391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688641"/>
            <a:ext cx="12191990" cy="516935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BC7DDB2-AEAB-FF14-6F3F-EFE04DBCA6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56851" y="2010758"/>
            <a:ext cx="457190" cy="457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Marcador de contenido 2">
                <a:extLst>
                  <a:ext uri="{FF2B5EF4-FFF2-40B4-BE49-F238E27FC236}">
                    <a16:creationId xmlns:a16="http://schemas.microsoft.com/office/drawing/2014/main" id="{52785BC1-A16D-DB4C-D515-871C6B1468B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2207225"/>
                <a:ext cx="10515600" cy="3969738"/>
              </a:xfrm>
            </p:spPr>
            <p:txBody>
              <a:bodyPr numCol="1">
                <a:normAutofit lnSpcReduction="10000"/>
              </a:bodyPr>
              <a:lstStyle/>
              <a:p>
                <a:r>
                  <a:rPr lang="es-ES" sz="2400" dirty="0"/>
                  <a:t>5 clases, 3 sujetos</a:t>
                </a:r>
              </a:p>
              <a:p>
                <a:r>
                  <a:rPr lang="es-ES" sz="2400" dirty="0"/>
                  <a:t>Train data: </a:t>
                </a:r>
              </a:p>
              <a:p>
                <a:pPr lvl="1"/>
                <a:r>
                  <a:rPr lang="es-ES" sz="2000" dirty="0">
                    <a:latin typeface="Cambria Math" panose="02040503050406030204" pitchFamily="18" charset="0"/>
                  </a:rPr>
                  <a:t>6 minutos y 40 segundos de datos muestreados a 1kHz por canal.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s-ES" sz="2000" i="1">
                        <a:latin typeface="Cambria Math" panose="02040503050406030204" pitchFamily="18" charset="0"/>
                      </a:rPr>
                      <m:t>400,000×</m:t>
                    </m:r>
                    <m:r>
                      <a:rPr lang="es-ES" sz="2000" i="1">
                        <a:latin typeface="Cambria Math" panose="02040503050406030204" pitchFamily="18" charset="0"/>
                      </a:rPr>
                      <m:t>𝑐h</m:t>
                    </m:r>
                  </m:oMath>
                </a14:m>
                <a:r>
                  <a:rPr lang="es-ES" sz="2000" dirty="0"/>
                  <a:t> valores que van entre </a:t>
                </a:r>
                <a14:m>
                  <m:oMath xmlns:m="http://schemas.openxmlformats.org/officeDocument/2006/math">
                    <m:r>
                      <a:rPr lang="es-ES" sz="2000" i="1">
                        <a:latin typeface="Cambria Math" panose="02040503050406030204" pitchFamily="18" charset="0"/>
                      </a:rPr>
                      <m:t>−1,300,000</m:t>
                    </m:r>
                  </m:oMath>
                </a14:m>
                <a:r>
                  <a:rPr lang="es-ES" sz="2000" dirty="0"/>
                  <a:t> y </a:t>
                </a:r>
                <a14:m>
                  <m:oMath xmlns:m="http://schemas.openxmlformats.org/officeDocument/2006/math">
                    <m:r>
                      <a:rPr lang="es-ES" sz="2000" i="1">
                        <a:latin typeface="Cambria Math" panose="02040503050406030204" pitchFamily="18" charset="0"/>
                      </a:rPr>
                      <m:t>2,000,000</m:t>
                    </m:r>
                  </m:oMath>
                </a14:m>
                <a:r>
                  <a:rPr lang="es-ES" sz="2000" dirty="0"/>
                  <a:t>, aproximadamente.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s-ES" sz="2000" i="1">
                        <a:latin typeface="Cambria Math" panose="02040503050406030204" pitchFamily="18" charset="0"/>
                      </a:rPr>
                      <m:t>𝑐h</m:t>
                    </m:r>
                  </m:oMath>
                </a14:m>
                <a:r>
                  <a:rPr lang="es-ES" sz="2000" dirty="0"/>
                  <a:t> puede ser 62, 48 o 64, dependiendo del sujeto</a:t>
                </a:r>
              </a:p>
              <a:p>
                <a:r>
                  <a:rPr lang="es-ES" sz="2400" dirty="0"/>
                  <a:t>Train dg: </a:t>
                </a:r>
              </a:p>
              <a:p>
                <a:pPr lvl="1"/>
                <a:r>
                  <a:rPr lang="es-ES" sz="2000" dirty="0">
                    <a:latin typeface="Cambria Math" panose="02040503050406030204" pitchFamily="18" charset="0"/>
                  </a:rPr>
                  <a:t>Las ubicaciones de los dedos.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s-ES" sz="2000">
                        <a:latin typeface="Cambria Math" panose="02040503050406030204" pitchFamily="18" charset="0"/>
                      </a:rPr>
                      <m:t>4</m:t>
                    </m:r>
                    <m:r>
                      <a:rPr lang="es-ES" sz="2000" i="1">
                        <a:latin typeface="Cambria Math" panose="02040503050406030204" pitchFamily="18" charset="0"/>
                      </a:rPr>
                      <m:t>00,000×5</m:t>
                    </m:r>
                  </m:oMath>
                </a14:m>
                <a:r>
                  <a:rPr lang="es-ES" sz="2000" dirty="0"/>
                  <a:t> valores que van entre </a:t>
                </a:r>
                <a14:m>
                  <m:oMath xmlns:m="http://schemas.openxmlformats.org/officeDocument/2006/math">
                    <m:r>
                      <a:rPr lang="es-ES" sz="2000" i="1" dirty="0">
                        <a:latin typeface="Cambria Math" panose="02040503050406030204" pitchFamily="18" charset="0"/>
                      </a:rPr>
                      <m:t>−2.8</m:t>
                    </m:r>
                  </m:oMath>
                </a14:m>
                <a:r>
                  <a:rPr lang="es-ES" sz="2000" dirty="0"/>
                  <a:t> y </a:t>
                </a:r>
                <a14:m>
                  <m:oMath xmlns:m="http://schemas.openxmlformats.org/officeDocument/2006/math">
                    <m:r>
                      <a:rPr lang="es-ES" sz="2000" i="1" dirty="0">
                        <a:latin typeface="Cambria Math" panose="02040503050406030204" pitchFamily="18" charset="0"/>
                      </a:rPr>
                      <m:t>7.6</m:t>
                    </m:r>
                  </m:oMath>
                </a14:m>
                <a:r>
                  <a:rPr lang="es-ES" sz="2000" dirty="0"/>
                  <a:t>, aproximadamente.</a:t>
                </a:r>
              </a:p>
              <a:p>
                <a:r>
                  <a:rPr lang="es-ES" sz="2400" dirty="0"/>
                  <a:t>Test data:</a:t>
                </a:r>
              </a:p>
              <a:p>
                <a:pPr lvl="1"/>
                <a:r>
                  <a:rPr lang="es-ES" sz="2000" dirty="0">
                    <a:latin typeface="Cambria Math" panose="02040503050406030204" pitchFamily="18" charset="0"/>
                  </a:rPr>
                  <a:t>3 minutos y 20 segundos de datos muestreados a 1kHz por canal.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s-MX" sz="2000" b="0" i="1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es-ES" sz="2000" i="1">
                        <a:latin typeface="Cambria Math" panose="02040503050406030204" pitchFamily="18" charset="0"/>
                      </a:rPr>
                      <m:t>00,000×</m:t>
                    </m:r>
                    <m:r>
                      <a:rPr lang="es-ES" sz="2000" i="1">
                        <a:latin typeface="Cambria Math" panose="02040503050406030204" pitchFamily="18" charset="0"/>
                      </a:rPr>
                      <m:t>𝑐h</m:t>
                    </m:r>
                  </m:oMath>
                </a14:m>
                <a:endParaRPr lang="es-ES" sz="2000" dirty="0"/>
              </a:p>
              <a:p>
                <a:endParaRPr lang="es-CL" dirty="0"/>
              </a:p>
            </p:txBody>
          </p:sp>
        </mc:Choice>
        <mc:Fallback xmlns="">
          <p:sp>
            <p:nvSpPr>
              <p:cNvPr id="3" name="Marcador de contenido 2">
                <a:extLst>
                  <a:ext uri="{FF2B5EF4-FFF2-40B4-BE49-F238E27FC236}">
                    <a16:creationId xmlns:a16="http://schemas.microsoft.com/office/drawing/2014/main" id="{52785BC1-A16D-DB4C-D515-871C6B1468B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2207225"/>
                <a:ext cx="10515600" cy="3969738"/>
              </a:xfrm>
              <a:blipFill>
                <a:blip r:embed="rId2"/>
                <a:stretch>
                  <a:fillRect l="-812" t="-2765"/>
                </a:stretch>
              </a:blipFill>
            </p:spPr>
            <p:txBody>
              <a:bodyPr/>
              <a:lstStyle/>
              <a:p>
                <a:r>
                  <a:rPr lang="es-C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DF7102FD-56D4-E486-494C-51C9255557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EED5AC-1242-4794-B0EE-05D093CD0FC2}" type="slidenum">
              <a:rPr lang="es-CL" smtClean="0"/>
              <a:t>35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7459581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F7C47F8-9EA3-F572-F5B5-52095B8385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CD39B9AA-A2D8-6626-6033-E11412DE4A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" y="-5705"/>
            <a:ext cx="12191990" cy="169434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1D5412CA-26DB-5273-0339-C5EE3642C4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6851" y="637762"/>
            <a:ext cx="9888496" cy="900131"/>
          </a:xfrm>
        </p:spPr>
        <p:txBody>
          <a:bodyPr anchor="t">
            <a:normAutofit/>
          </a:bodyPr>
          <a:lstStyle/>
          <a:p>
            <a:r>
              <a:rPr lang="es-ES" sz="4000" dirty="0" err="1">
                <a:solidFill>
                  <a:schemeClr val="bg1"/>
                </a:solidFill>
              </a:rPr>
              <a:t>Papers</a:t>
            </a:r>
            <a:r>
              <a:rPr lang="es-ES" sz="4000" dirty="0">
                <a:solidFill>
                  <a:schemeClr val="bg1"/>
                </a:solidFill>
              </a:rPr>
              <a:t> </a:t>
            </a:r>
            <a:r>
              <a:rPr lang="es-ES" sz="4000" dirty="0" err="1">
                <a:solidFill>
                  <a:schemeClr val="bg1"/>
                </a:solidFill>
              </a:rPr>
              <a:t>with</a:t>
            </a:r>
            <a:r>
              <a:rPr lang="es-ES" sz="4000" dirty="0">
                <a:solidFill>
                  <a:schemeClr val="bg1"/>
                </a:solidFill>
              </a:rPr>
              <a:t> </a:t>
            </a:r>
            <a:r>
              <a:rPr lang="es-ES" sz="4000" dirty="0" err="1">
                <a:solidFill>
                  <a:schemeClr val="bg1"/>
                </a:solidFill>
              </a:rPr>
              <a:t>Code</a:t>
            </a:r>
            <a:r>
              <a:rPr lang="es-ES" sz="4000" dirty="0">
                <a:solidFill>
                  <a:schemeClr val="bg1"/>
                </a:solidFill>
              </a:rPr>
              <a:t>: </a:t>
            </a:r>
            <a:r>
              <a:rPr lang="es-ES" sz="4000" dirty="0" err="1">
                <a:solidFill>
                  <a:schemeClr val="bg1"/>
                </a:solidFill>
              </a:rPr>
              <a:t>Dataset</a:t>
            </a:r>
            <a:r>
              <a:rPr lang="es-ES" sz="4000" dirty="0">
                <a:solidFill>
                  <a:schemeClr val="bg1"/>
                </a:solidFill>
              </a:rPr>
              <a:t> BCICIV-4</a:t>
            </a:r>
            <a:endParaRPr lang="es-CL" sz="4000" dirty="0">
              <a:solidFill>
                <a:schemeClr val="bg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EB1D3EA-E618-F4C0-4464-7B9D249D4F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688641"/>
            <a:ext cx="12191990" cy="516935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723FDCE-7CAF-BF09-9F5F-E2CCF13873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56851" y="2010758"/>
            <a:ext cx="457190" cy="457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Marcador de contenido 6">
            <a:extLst>
              <a:ext uri="{FF2B5EF4-FFF2-40B4-BE49-F238E27FC236}">
                <a16:creationId xmlns:a16="http://schemas.microsoft.com/office/drawing/2014/main" id="{5917FF30-1667-BAB5-7B04-7C99D0B5369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647240" y="1839389"/>
            <a:ext cx="8897520" cy="4695914"/>
          </a:xfrm>
        </p:spPr>
      </p:pic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2CB18288-754C-F505-C865-9FBFD8CBBD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EED5AC-1242-4794-B0EE-05D093CD0FC2}" type="slidenum">
              <a:rPr lang="es-CL" smtClean="0"/>
              <a:t>36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83047088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899B1D1-C44B-93A5-6053-7CE1FE82D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A886959C-9A0F-C14B-A448-82A2D5B82B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" y="-5705"/>
            <a:ext cx="12191990" cy="169434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8D5BA94A-0121-ADCA-C50C-3E37BED5B9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6851" y="637762"/>
            <a:ext cx="9888496" cy="900131"/>
          </a:xfrm>
        </p:spPr>
        <p:txBody>
          <a:bodyPr anchor="t">
            <a:normAutofit/>
          </a:bodyPr>
          <a:lstStyle/>
          <a:p>
            <a:r>
              <a:rPr lang="es-ES" sz="4000" dirty="0" err="1">
                <a:solidFill>
                  <a:schemeClr val="bg1"/>
                </a:solidFill>
              </a:rPr>
              <a:t>Finger</a:t>
            </a:r>
            <a:r>
              <a:rPr lang="es-ES" sz="4000" dirty="0">
                <a:solidFill>
                  <a:schemeClr val="bg1"/>
                </a:solidFill>
              </a:rPr>
              <a:t> </a:t>
            </a:r>
            <a:r>
              <a:rPr lang="es-ES" sz="4000" dirty="0" err="1">
                <a:solidFill>
                  <a:schemeClr val="bg1"/>
                </a:solidFill>
              </a:rPr>
              <a:t>Flexion</a:t>
            </a:r>
            <a:r>
              <a:rPr lang="es-ES" sz="4000" dirty="0">
                <a:solidFill>
                  <a:schemeClr val="bg1"/>
                </a:solidFill>
              </a:rPr>
              <a:t>: Modelo Implementado</a:t>
            </a:r>
            <a:endParaRPr lang="es-CL" sz="4000" dirty="0">
              <a:solidFill>
                <a:schemeClr val="bg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EBC07CA-7B59-9D37-6A23-62456F611A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688641"/>
            <a:ext cx="12191990" cy="516935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2FB4CB9-2B41-6F72-CFA3-268AFDD255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56851" y="2010758"/>
            <a:ext cx="457190" cy="457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Marcador de contenido 4">
            <a:extLst>
              <a:ext uri="{FF2B5EF4-FFF2-40B4-BE49-F238E27FC236}">
                <a16:creationId xmlns:a16="http://schemas.microsoft.com/office/drawing/2014/main" id="{8E2721AD-BC0A-2618-F7E5-8D533B067DA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3493964" y="1825625"/>
            <a:ext cx="5204072" cy="4351338"/>
          </a:xfrm>
        </p:spPr>
      </p:pic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FC068168-725D-F12C-EEC5-56004F569C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EED5AC-1242-4794-B0EE-05D093CD0FC2}" type="slidenum">
              <a:rPr lang="es-CL" smtClean="0"/>
              <a:t>37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025024277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5728</TotalTime>
  <Words>865</Words>
  <Application>Microsoft Office PowerPoint</Application>
  <PresentationFormat>Panorámica</PresentationFormat>
  <Paragraphs>186</Paragraphs>
  <Slides>37</Slides>
  <Notes>15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37</vt:i4>
      </vt:variant>
    </vt:vector>
  </HeadingPairs>
  <TitlesOfParts>
    <vt:vector size="43" baseType="lpstr">
      <vt:lpstr>Aptos</vt:lpstr>
      <vt:lpstr>Aptos Display</vt:lpstr>
      <vt:lpstr>Arial</vt:lpstr>
      <vt:lpstr>Cambria Math</vt:lpstr>
      <vt:lpstr>Helvetica Neue Medium</vt:lpstr>
      <vt:lpstr>Tema de Office</vt:lpstr>
      <vt:lpstr>Edge Computing para Control Biónico con Señales Cerebrales</vt:lpstr>
      <vt:lpstr>Objetivo Principal</vt:lpstr>
      <vt:lpstr>Objetivos Secundarios</vt:lpstr>
      <vt:lpstr>Marco Teórico</vt:lpstr>
      <vt:lpstr>Edge Computing</vt:lpstr>
      <vt:lpstr>TinyML</vt:lpstr>
      <vt:lpstr>Cuantización Post Entrenamiento</vt:lpstr>
      <vt:lpstr>Datasets</vt:lpstr>
      <vt:lpstr>Dataset BCICIV-4</vt:lpstr>
      <vt:lpstr>Dataset BCICIV-4</vt:lpstr>
      <vt:lpstr>Framework</vt:lpstr>
      <vt:lpstr>Neural Networks</vt:lpstr>
      <vt:lpstr>STM32Cube.AI</vt:lpstr>
      <vt:lpstr>Hello World</vt:lpstr>
      <vt:lpstr>Tensorflow Lite Hello World</vt:lpstr>
      <vt:lpstr>Tensorflow Lite Hello World</vt:lpstr>
      <vt:lpstr>                       Tensorflow Lite Hello World: Cuantización</vt:lpstr>
      <vt:lpstr>                       Tensorflow Lite Hello World: Cuantización</vt:lpstr>
      <vt:lpstr>                       Tensorflow Lite Hello World: Cuantización</vt:lpstr>
      <vt:lpstr>Finger Flexion Detection</vt:lpstr>
      <vt:lpstr>Finger Flexion: Raima Sen</vt:lpstr>
      <vt:lpstr>Finger Flexion: Raima Sen</vt:lpstr>
      <vt:lpstr>Finger Flexion: Raima Sen – Cuantización</vt:lpstr>
      <vt:lpstr>Finger Flexion: Modelo Implementado</vt:lpstr>
      <vt:lpstr>Finger Flexion: Modelos Implementados</vt:lpstr>
      <vt:lpstr>Finger Flexion: Desempeño</vt:lpstr>
      <vt:lpstr>Finger Flexion: Desempeño</vt:lpstr>
      <vt:lpstr>Finger Flexion: Desempeño</vt:lpstr>
      <vt:lpstr>Trabajo Futuro</vt:lpstr>
      <vt:lpstr>Presentación de PowerPoint</vt:lpstr>
      <vt:lpstr>BCI</vt:lpstr>
      <vt:lpstr>Pearson</vt:lpstr>
      <vt:lpstr>Neural Networks</vt:lpstr>
      <vt:lpstr>Datasets BCI C IV</vt:lpstr>
      <vt:lpstr>Dataset BCICIV-4</vt:lpstr>
      <vt:lpstr>Papers with Code: Dataset BCICIV-4</vt:lpstr>
      <vt:lpstr>Finger Flexion: Modelo Implementado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DAVID ALEJANDRO ISRAEL TAPIA PINO</dc:creator>
  <cp:lastModifiedBy>DAVID ALEJANDRO ISRAEL TAPIA PINO</cp:lastModifiedBy>
  <cp:revision>11</cp:revision>
  <dcterms:created xsi:type="dcterms:W3CDTF">2025-03-12T23:57:03Z</dcterms:created>
  <dcterms:modified xsi:type="dcterms:W3CDTF">2025-07-10T15:02:41Z</dcterms:modified>
</cp:coreProperties>
</file>