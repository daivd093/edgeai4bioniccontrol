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8"/>
  </p:notesMasterIdLst>
  <p:sldIdLst>
    <p:sldId id="256" r:id="rId5"/>
    <p:sldId id="292" r:id="rId6"/>
    <p:sldId id="283" r:id="rId7"/>
    <p:sldId id="279" r:id="rId8"/>
    <p:sldId id="287" r:id="rId9"/>
    <p:sldId id="286" r:id="rId10"/>
    <p:sldId id="288" r:id="rId11"/>
    <p:sldId id="290" r:id="rId12"/>
    <p:sldId id="289" r:id="rId13"/>
    <p:sldId id="291" r:id="rId14"/>
    <p:sldId id="293" r:id="rId15"/>
    <p:sldId id="294" r:id="rId16"/>
    <p:sldId id="300" r:id="rId17"/>
    <p:sldId id="295" r:id="rId18"/>
    <p:sldId id="296" r:id="rId19"/>
    <p:sldId id="298" r:id="rId20"/>
    <p:sldId id="301" r:id="rId21"/>
    <p:sldId id="302" r:id="rId22"/>
    <p:sldId id="303" r:id="rId23"/>
    <p:sldId id="306" r:id="rId24"/>
    <p:sldId id="307" r:id="rId25"/>
    <p:sldId id="305" r:id="rId26"/>
    <p:sldId id="299" r:id="rId27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04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Selección del modelo .h5</a:t>
          </a:r>
          <a:endParaRPr lang="es-CL" sz="31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Definición de un </a:t>
          </a:r>
          <a:r>
            <a:rPr lang="es-MX" sz="3100" kern="1200" dirty="0" err="1"/>
            <a:t>dataset</a:t>
          </a:r>
          <a:r>
            <a:rPr lang="es-MX" sz="3100" kern="1200" dirty="0"/>
            <a:t> representativo</a:t>
          </a:r>
          <a:endParaRPr lang="es-CL" sz="31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Conversión de pesos</a:t>
          </a:r>
          <a:endParaRPr lang="es-CL" sz="31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04-07-2025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Los ganadores de la competencia alcanzaron r = 0.46, lo que yo entrené para el primer sujeto alcanzó r=0.29, que sería como el tercer lugar en 2008</a:t>
            </a:r>
          </a:p>
          <a:p>
            <a:r>
              <a:rPr lang="es-CL" dirty="0"/>
              <a:t>De estos, los más interesantes son CNN-LSTM, porque la misma CNN se encarga de extraer las características, así que no sería necesario  calcular a mano la matriz R y además las entradas deberían ser menos, porque tanto las relaciones inter canal como las temporales son obtenidas por la CNN y la LSTM respectivamente. Aún así, esta no recibe las señales directamente, sino bandas de frecuencia si mal no recuerdo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4B825C-5DE0-4FF2-AFFB-82B5D3F5D8C1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3544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04-07-2025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04-07-2025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04-07-2025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04-07-2025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04-07-2025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04-07-2025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04-07-2025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380EBC-B826-A61B-0F0C-638548E3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Evaluación </a:t>
            </a:r>
            <a:r>
              <a:rPr lang="es-MX" dirty="0" err="1"/>
              <a:t>Hello</a:t>
            </a:r>
            <a:r>
              <a:rPr lang="es-MX" dirty="0"/>
              <a:t> </a:t>
            </a:r>
            <a:r>
              <a:rPr lang="es-MX" dirty="0" err="1"/>
              <a:t>World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C8D6987-CD63-9D57-0992-308AD9B5E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Cuantización post entrenamiento,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1FC7B4-CE0B-8208-F07A-38072CD27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467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30510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B229094A-7118-0EEF-0EE9-DE3D4C03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entre cuantizaciones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9C022C4-0AE0-63F1-EEDE-A68DDA409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56BA8DE-2E86-409F-F6AB-4313DCD4A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  <p:pic>
        <p:nvPicPr>
          <p:cNvPr id="15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41840"/>
          <a:stretch>
            <a:fillRect/>
          </a:stretch>
        </p:blipFill>
        <p:spPr>
          <a:xfrm>
            <a:off x="549403" y="2505075"/>
            <a:ext cx="5157787" cy="4152118"/>
          </a:xfrm>
          <a:prstGeom prst="rect">
            <a:avLst/>
          </a:prstGeom>
        </p:spPr>
      </p:pic>
      <p:pic>
        <p:nvPicPr>
          <p:cNvPr id="19" name="Marcador de contenido 5">
            <a:extLst>
              <a:ext uri="{FF2B5EF4-FFF2-40B4-BE49-F238E27FC236}">
                <a16:creationId xmlns:a16="http://schemas.microsoft.com/office/drawing/2014/main" id="{B7AE52CB-A701-6C3B-6BD7-206121E8A1F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2667"/>
          <a:stretch>
            <a:fillRect/>
          </a:stretch>
        </p:blipFill>
        <p:spPr>
          <a:xfrm>
            <a:off x="6522499" y="2473902"/>
            <a:ext cx="4851470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01E4E-BACC-AC47-BEE7-CE155C84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CC5D22BF-B64D-D73B-8E10-BE63CFA1F1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51595"/>
            <a:ext cx="11928357" cy="6469880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7E27DC-7B31-06B7-615A-1500B87D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901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F165148A-D297-9CCC-2F8D-13209949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Error cuadrático medio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  <m:r>
                                    <a:rPr lang="es-MX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MX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MX" dirty="0"/>
              </a:p>
              <a:p>
                <a:endParaRPr lang="es-MX" dirty="0"/>
              </a:p>
              <a:p>
                <a:r>
                  <a:rPr lang="es-MX" dirty="0"/>
                  <a:t>MSE_Modelo_float32 = 0.0011957992752436959</a:t>
                </a:r>
              </a:p>
              <a:p>
                <a:r>
                  <a:rPr lang="es-MX" dirty="0"/>
                  <a:t>MSE_Modelo_int8_(pesos) = 0.003288795185789242</a:t>
                </a:r>
              </a:p>
              <a:p>
                <a:pPr marL="0" indent="0">
                  <a:buNone/>
                </a:pPr>
                <a:endParaRPr lang="es-CL" dirty="0"/>
              </a:p>
            </p:txBody>
          </p:sp>
        </mc:Choice>
        <mc:Fallback xmlns="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E731D4-4349-317F-77C9-F42444E7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7366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4F5E7BD-962D-DA51-ADB2-ABFE7CFEB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Finger</a:t>
            </a:r>
            <a:r>
              <a:rPr lang="es-MX" dirty="0"/>
              <a:t> Flex NN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3CDEC60-12C4-A108-F95A-C01925EB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Opciones y cuantización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80BAE6-42E8-F8FE-4E5D-91897B1F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3144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AFF7267-0AEA-A09A-D4FC-9690945F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Papers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Code</a:t>
            </a:r>
            <a:endParaRPr lang="es-CL" dirty="0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73FD4816-1ADB-A286-6A22-93453929C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7340" y="1825625"/>
            <a:ext cx="8397319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AAA09B-11F8-B726-2E3E-F738421E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1788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407CC3-EE7C-5D40-3E96-E70A58C21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FingerFlex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1FA21-6F73-1132-7C47-EC4E48DE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9B47543-ED2D-461E-8250-4200DFF84A6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A94BD69-826A-D149-EE86-A3FF52C69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628" y="3795302"/>
            <a:ext cx="5067631" cy="2428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8C7FC0B-50D6-9F7A-B315-A84A9D1D0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443" y="2262693"/>
            <a:ext cx="6155493" cy="2746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407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53D3CA-7FC0-214C-AC3F-E66C1E005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7A37C7-1DCF-B429-B3D4-7EAC422D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13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44C3B-5284-0F82-A6F9-63EB6AF623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33A8FF-887C-7E24-05BA-60FF4E01E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675" y="0"/>
            <a:ext cx="20068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59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7DE3A-30FE-11B7-A53F-B10ECD315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sin cuantizar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9A217954-C58D-46A4-7DD8-32CE923A0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9203" y="1847850"/>
            <a:ext cx="7900473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759A70-C72F-5E55-1CD2-59E64857D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14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AE4F883-786B-0082-66D8-A7A37E966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63" y="4194877"/>
            <a:ext cx="3465071" cy="132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34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99A5C-2726-05B2-FD7C-7172E332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cuantizado int8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DEEE71B1-66CF-99D5-3AC8-52C3DEC98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53920"/>
            <a:ext cx="7830913" cy="404526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8490C7-21BF-1FDD-272A-E8F7FDBA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15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93190B-C19E-C3A0-C4AC-3D652A53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612" y="3824169"/>
            <a:ext cx="3639175" cy="114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613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B2C90-4093-2C44-F77E-13B0FFDE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4616302-BA73-D737-A8B1-F42AAC9F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72413E-D5F8-F5F1-B8E4-5E42CECEE1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9A407B7-CA8B-3B63-175D-C34004E0E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61D48-2CAD-4BD8-182E-C866F56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16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03494B9A-3AF1-96FF-D1F9-75025CA29D9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16" name="Marcador de contenido 5">
            <a:extLst>
              <a:ext uri="{FF2B5EF4-FFF2-40B4-BE49-F238E27FC236}">
                <a16:creationId xmlns:a16="http://schemas.microsoft.com/office/drawing/2014/main" id="{052A9977-CE41-1E28-9213-E9911AC0E20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0820"/>
          <a:stretch>
            <a:fillRect/>
          </a:stretch>
        </p:blipFill>
        <p:spPr>
          <a:xfrm>
            <a:off x="6653228" y="2505075"/>
            <a:ext cx="4221132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4B0D-2DD5-9427-6E4A-460A36A7A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E5A06-2365-5D4B-E3C2-AF15ABBA4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C93749-528B-2F19-3EE8-FD233DB5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17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8AE12-33A0-66F8-591D-B2768CD21F2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5CD958F-74C4-509F-5FD1-1DCF4DED5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0"/>
            <a:ext cx="3034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18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7B36D-BD76-80BB-0410-718AF8DC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A3F51C2-4D27-3496-B110-43EBD395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anterior y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09D92CBD-FDCD-00AF-29BE-605169C9A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Modelo anterior (float32)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3F7E67E4-33CF-51A4-6F7E-E60CCBFF9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Modelo nuevo (float32)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9F788-753D-ECB9-1B14-988B3C7FF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18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84E549F1-BAEB-D338-F609-B3AB5094C4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DA793555-CB18-4697-FC66-6705AA5CD93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658710" y="2505075"/>
            <a:ext cx="4210167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90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78C09-0241-3EB1-1DF6-67F39B6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98F19548-4E49-E79C-F153-7A051891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 del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E5A968B-9D33-38AA-76E9-9FFA9022D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 (nuevo)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65C13AE6-97B2-9770-5867-8D4E0FB48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6B9BF5-042F-4691-E3CD-7EEDA3F5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19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1931B3EE-A5D8-AA60-C5AF-C49D8A32C2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13598" y="2505075"/>
            <a:ext cx="4210167" cy="3684588"/>
          </a:xfrm>
          <a:prstGeom prst="rect">
            <a:avLst/>
          </a:prstGeom>
        </p:spPr>
      </p:pic>
      <p:pic>
        <p:nvPicPr>
          <p:cNvPr id="14" name="Marcador de contenido 13">
            <a:extLst>
              <a:ext uri="{FF2B5EF4-FFF2-40B4-BE49-F238E27FC236}">
                <a16:creationId xmlns:a16="http://schemas.microsoft.com/office/drawing/2014/main" id="{75951500-FE11-C5BF-0E1D-9124EA1AC79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69265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37071868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9801-3D4A-6063-824A-2FFFA37B6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6C477922-27A7-2EEC-4144-75AAE5F80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8191424-F87B-9288-9C74-E8422518D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 (int8)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84B2838-67D8-519F-5797-7279ECB2A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B924EA-E9EA-724A-1141-1EF38F4F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20</a:t>
            </a:fld>
            <a:endParaRPr lang="es-CL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B0A4F5B-10F6-1012-0DEA-607EAFD8623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765553" y="2505075"/>
            <a:ext cx="3996482" cy="3684588"/>
          </a:xfrm>
        </p:spPr>
      </p:pic>
      <p:pic>
        <p:nvPicPr>
          <p:cNvPr id="11" name="Marcador de contenido 13">
            <a:extLst>
              <a:ext uri="{FF2B5EF4-FFF2-40B4-BE49-F238E27FC236}">
                <a16:creationId xmlns:a16="http://schemas.microsoft.com/office/drawing/2014/main" id="{282D7FC7-7702-9004-8761-1EEF87186CF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424153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2551349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392-82CB-18B4-3AC7-E4DB3E96F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C8EE0DD-B3C7-5F6C-1946-DB9303751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55"/>
            <a:ext cx="10515600" cy="1325563"/>
          </a:xfrm>
        </p:spPr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50D8D82-D5AC-5BFB-3BF0-1734AD992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8679" y="1024876"/>
            <a:ext cx="5157787" cy="823912"/>
          </a:xfrm>
        </p:spPr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5FE81B83-AAFC-F33E-6074-062B2C09B9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024876"/>
            <a:ext cx="5183188" cy="823912"/>
          </a:xfrm>
        </p:spPr>
        <p:txBody>
          <a:bodyPr/>
          <a:lstStyle/>
          <a:p>
            <a:r>
              <a:rPr lang="es-MX" dirty="0"/>
              <a:t>Sujeto 2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72182D-2A8D-36CC-DE2D-C9C6336D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21</a:t>
            </a:fld>
            <a:endParaRPr lang="es-CL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1DB2360-3636-EBFD-7B25-27C3A9AD0C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652154" y="1217064"/>
            <a:ext cx="2435455" cy="550441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BF280F4-9026-F40A-3C92-D28018FD8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1320" y="1217064"/>
            <a:ext cx="2509133" cy="550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325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32BE6-05B4-09BD-5C70-4E0BFEC3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97B61BB-D8E7-502B-3B06-BD3574382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Uso de memoria para los 5 dedos del sujeto 1 y 2</a:t>
            </a:r>
            <a:br>
              <a:rPr lang="es-MX" dirty="0"/>
            </a:b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45D5F53-452E-BE09-45EF-C345172DF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B3FAD54D-A1ED-1A93-6B9A-51061EF61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Sujeto 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03B364-57CF-8247-A9AB-93115DA9E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22</a:t>
            </a:fld>
            <a:endParaRPr lang="es-CL"/>
          </a:p>
        </p:txBody>
      </p:sp>
      <p:pic>
        <p:nvPicPr>
          <p:cNvPr id="7" name="Marcador de contenido 5">
            <a:extLst>
              <a:ext uri="{FF2B5EF4-FFF2-40B4-BE49-F238E27FC236}">
                <a16:creationId xmlns:a16="http://schemas.microsoft.com/office/drawing/2014/main" id="{863B68F4-9B5F-4250-A4E3-08DF7176768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5879" y="3265769"/>
            <a:ext cx="4960541" cy="2030720"/>
          </a:xfrm>
          <a:prstGeom prst="rect">
            <a:avLst/>
          </a:prstGeom>
        </p:spPr>
      </p:pic>
      <p:pic>
        <p:nvPicPr>
          <p:cNvPr id="15" name="Marcador de contenido 14">
            <a:extLst>
              <a:ext uri="{FF2B5EF4-FFF2-40B4-BE49-F238E27FC236}">
                <a16:creationId xmlns:a16="http://schemas.microsoft.com/office/drawing/2014/main" id="{721FD691-39AF-7CD2-4C07-244152E3D7D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86264" y="3317500"/>
            <a:ext cx="5555059" cy="1978989"/>
          </a:xfrm>
        </p:spPr>
      </p:pic>
      <p:sp>
        <p:nvSpPr>
          <p:cNvPr id="16" name="Marcador de texto 8">
            <a:extLst>
              <a:ext uri="{FF2B5EF4-FFF2-40B4-BE49-F238E27FC236}">
                <a16:creationId xmlns:a16="http://schemas.microsoft.com/office/drawing/2014/main" id="{7CD5436A-033D-F7D1-3AF8-EE7D8A1835B4}"/>
              </a:ext>
            </a:extLst>
          </p:cNvPr>
          <p:cNvSpPr txBox="1">
            <a:spLocks/>
          </p:cNvSpPr>
          <p:nvPr/>
        </p:nvSpPr>
        <p:spPr>
          <a:xfrm>
            <a:off x="4324820" y="5668963"/>
            <a:ext cx="2743200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/>
              <a:t>RAM total: 128KiB</a:t>
            </a:r>
          </a:p>
          <a:p>
            <a:r>
              <a:rPr lang="es-MX" dirty="0"/>
              <a:t>Flash total: 1024KiB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52339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9AB0CD-461A-85CA-6D85-80D578ABE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A08BCD-E184-33F4-267B-6208FCAE6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00754F-F9E1-21F8-26F7-6339562859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17E75EA-8371-C63D-CF85-056D09749E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451E4A-9747-69B0-D836-7849CC69617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9E9C2D-5D10-900D-3E3F-9174CB9C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7960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6134</TotalTime>
  <Words>342</Words>
  <Application>Microsoft Office PowerPoint</Application>
  <PresentationFormat>Panorámica</PresentationFormat>
  <Paragraphs>74</Paragraphs>
  <Slides>23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Evaluación Hello World</vt:lpstr>
      <vt:lpstr>Cuantización post-entrenamiento</vt:lpstr>
      <vt:lpstr>int8 en STM32</vt:lpstr>
      <vt:lpstr>Int8 solo pesos</vt:lpstr>
      <vt:lpstr>Comparación entre cuantizaciones</vt:lpstr>
      <vt:lpstr>Comparación precisión completa y cuantizada</vt:lpstr>
      <vt:lpstr>Presentación de PowerPoint</vt:lpstr>
      <vt:lpstr>Error cuadrático medio</vt:lpstr>
      <vt:lpstr>Finger Flex NN</vt:lpstr>
      <vt:lpstr>Papers with Code</vt:lpstr>
      <vt:lpstr>FingerFlex</vt:lpstr>
      <vt:lpstr>Finger Flexion Detection using ECoG signals</vt:lpstr>
      <vt:lpstr>Model_s2f1, sin cuantizar</vt:lpstr>
      <vt:lpstr>Model_s2f1, cuantizado int8</vt:lpstr>
      <vt:lpstr>Comparación precisión completa y cuantizada</vt:lpstr>
      <vt:lpstr>Finger Flexion Detection using ECoG signals</vt:lpstr>
      <vt:lpstr>Comparación modelo anterior y modelo nuevo</vt:lpstr>
      <vt:lpstr>Comparación precisión completa y cuantizada del modelo nuevo</vt:lpstr>
      <vt:lpstr>Comparación modelo para sujeto 1 y 2</vt:lpstr>
      <vt:lpstr>Comparación modelo para sujeto 1 y 2</vt:lpstr>
      <vt:lpstr>Uso de memoria para los 5 dedos del sujeto 1 y 2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15</cp:revision>
  <dcterms:created xsi:type="dcterms:W3CDTF">2025-04-15T15:04:39Z</dcterms:created>
  <dcterms:modified xsi:type="dcterms:W3CDTF">2025-07-05T03:03:35Z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