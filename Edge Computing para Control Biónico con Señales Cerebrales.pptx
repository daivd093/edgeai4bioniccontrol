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8"/>
  </p:notesMasterIdLst>
  <p:sldIdLst>
    <p:sldId id="256" r:id="rId5"/>
    <p:sldId id="292" r:id="rId6"/>
    <p:sldId id="283" r:id="rId7"/>
    <p:sldId id="279" r:id="rId8"/>
    <p:sldId id="287" r:id="rId9"/>
    <p:sldId id="286" r:id="rId10"/>
    <p:sldId id="288" r:id="rId11"/>
    <p:sldId id="290" r:id="rId12"/>
    <p:sldId id="289" r:id="rId13"/>
    <p:sldId id="291" r:id="rId14"/>
    <p:sldId id="293" r:id="rId15"/>
    <p:sldId id="294" r:id="rId16"/>
    <p:sldId id="300" r:id="rId17"/>
    <p:sldId id="295" r:id="rId18"/>
    <p:sldId id="296" r:id="rId19"/>
    <p:sldId id="298" r:id="rId20"/>
    <p:sldId id="301" r:id="rId21"/>
    <p:sldId id="302" r:id="rId22"/>
    <p:sldId id="303" r:id="rId23"/>
    <p:sldId id="306" r:id="rId24"/>
    <p:sldId id="307" r:id="rId25"/>
    <p:sldId id="305" r:id="rId26"/>
    <p:sldId id="299" r:id="rId27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8516" autoAdjust="0"/>
  </p:normalViewPr>
  <p:slideViewPr>
    <p:cSldViewPr snapToGrid="0">
      <p:cViewPr varScale="1">
        <p:scale>
          <a:sx n="74" d="100"/>
          <a:sy n="74" d="100"/>
        </p:scale>
        <p:origin x="104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BF0B7FB-DA3D-4DCD-92CE-5515BC2A0FEC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E5C905EA-FF2D-46BF-8669-05EE1915E020}">
      <dgm:prSet phldrT="[Texto]"/>
      <dgm:spPr/>
      <dgm:t>
        <a:bodyPr/>
        <a:lstStyle/>
        <a:p>
          <a:r>
            <a:rPr lang="es-MX" dirty="0"/>
            <a:t>Selección del modelo .h5</a:t>
          </a:r>
          <a:endParaRPr lang="es-CL" dirty="0"/>
        </a:p>
      </dgm:t>
    </dgm:pt>
    <dgm:pt modelId="{4128E8CC-78AA-45B7-8BA1-82A2B49FD298}" type="parTrans" cxnId="{E19266C1-4804-4D75-AAB6-80135145A043}">
      <dgm:prSet/>
      <dgm:spPr/>
      <dgm:t>
        <a:bodyPr/>
        <a:lstStyle/>
        <a:p>
          <a:endParaRPr lang="es-CL"/>
        </a:p>
      </dgm:t>
    </dgm:pt>
    <dgm:pt modelId="{0C28BC9E-73B5-4DC3-80F7-409B261A2B02}" type="sibTrans" cxnId="{E19266C1-4804-4D75-AAB6-80135145A043}">
      <dgm:prSet/>
      <dgm:spPr/>
      <dgm:t>
        <a:bodyPr/>
        <a:lstStyle/>
        <a:p>
          <a:endParaRPr lang="es-CL"/>
        </a:p>
      </dgm:t>
    </dgm:pt>
    <dgm:pt modelId="{576E78F5-2C1A-489F-B331-AA06D337DBDA}">
      <dgm:prSet phldrT="[Texto]"/>
      <dgm:spPr/>
      <dgm:t>
        <a:bodyPr/>
        <a:lstStyle/>
        <a:p>
          <a:r>
            <a:rPr lang="es-MX" dirty="0"/>
            <a:t>Definición de un </a:t>
          </a:r>
          <a:r>
            <a:rPr lang="es-MX" dirty="0" err="1"/>
            <a:t>dataset</a:t>
          </a:r>
          <a:r>
            <a:rPr lang="es-MX" dirty="0"/>
            <a:t> representativo</a:t>
          </a:r>
          <a:endParaRPr lang="es-CL" dirty="0"/>
        </a:p>
      </dgm:t>
    </dgm:pt>
    <dgm:pt modelId="{D8C6085D-61D3-4D5C-BA95-E1FCF6DB3669}" type="parTrans" cxnId="{C429F160-EB84-4A5E-8A36-EA120ADF90A9}">
      <dgm:prSet/>
      <dgm:spPr/>
      <dgm:t>
        <a:bodyPr/>
        <a:lstStyle/>
        <a:p>
          <a:endParaRPr lang="es-CL"/>
        </a:p>
      </dgm:t>
    </dgm:pt>
    <dgm:pt modelId="{E4808B09-8AAC-4FAA-9DF2-D4C5C1BFC6AC}" type="sibTrans" cxnId="{C429F160-EB84-4A5E-8A36-EA120ADF90A9}">
      <dgm:prSet/>
      <dgm:spPr/>
      <dgm:t>
        <a:bodyPr/>
        <a:lstStyle/>
        <a:p>
          <a:endParaRPr lang="es-CL"/>
        </a:p>
      </dgm:t>
    </dgm:pt>
    <dgm:pt modelId="{B6ACF22C-3E34-43DC-9AD4-08CE792B69FF}">
      <dgm:prSet phldrT="[Texto]"/>
      <dgm:spPr/>
      <dgm:t>
        <a:bodyPr/>
        <a:lstStyle/>
        <a:p>
          <a:r>
            <a:rPr lang="es-MX" dirty="0"/>
            <a:t>Conversión de pesos</a:t>
          </a:r>
          <a:endParaRPr lang="es-CL" dirty="0"/>
        </a:p>
      </dgm:t>
    </dgm:pt>
    <dgm:pt modelId="{D7B0D111-37E2-4F5D-9387-63304CEB7E31}" type="parTrans" cxnId="{85FC786F-54B5-4F2C-8C7B-73B1DDE4A8DD}">
      <dgm:prSet/>
      <dgm:spPr/>
      <dgm:t>
        <a:bodyPr/>
        <a:lstStyle/>
        <a:p>
          <a:endParaRPr lang="es-CL"/>
        </a:p>
      </dgm:t>
    </dgm:pt>
    <dgm:pt modelId="{EFDBE9CF-F2CF-4E16-ADD5-D68B0522DFBC}" type="sibTrans" cxnId="{85FC786F-54B5-4F2C-8C7B-73B1DDE4A8DD}">
      <dgm:prSet/>
      <dgm:spPr/>
      <dgm:t>
        <a:bodyPr/>
        <a:lstStyle/>
        <a:p>
          <a:endParaRPr lang="es-CL"/>
        </a:p>
      </dgm:t>
    </dgm:pt>
    <dgm:pt modelId="{2020DAA4-4895-4DA0-99CE-C0E1396164E7}" type="pres">
      <dgm:prSet presAssocID="{BBF0B7FB-DA3D-4DCD-92CE-5515BC2A0FEC}" presName="Name0" presStyleCnt="0">
        <dgm:presLayoutVars>
          <dgm:dir/>
          <dgm:resizeHandles val="exact"/>
        </dgm:presLayoutVars>
      </dgm:prSet>
      <dgm:spPr/>
    </dgm:pt>
    <dgm:pt modelId="{18055A54-E558-4FD9-B50F-54AFFF322322}" type="pres">
      <dgm:prSet presAssocID="{E5C905EA-FF2D-46BF-8669-05EE1915E020}" presName="node" presStyleLbl="node1" presStyleIdx="0" presStyleCnt="3">
        <dgm:presLayoutVars>
          <dgm:bulletEnabled val="1"/>
        </dgm:presLayoutVars>
      </dgm:prSet>
      <dgm:spPr/>
    </dgm:pt>
    <dgm:pt modelId="{EBE4062C-D33A-4911-BBF4-F1C1BC398585}" type="pres">
      <dgm:prSet presAssocID="{0C28BC9E-73B5-4DC3-80F7-409B261A2B02}" presName="sibTrans" presStyleLbl="sibTrans2D1" presStyleIdx="0" presStyleCnt="2"/>
      <dgm:spPr/>
    </dgm:pt>
    <dgm:pt modelId="{60FF4CD8-81DC-4905-ABD4-D43A800B49D3}" type="pres">
      <dgm:prSet presAssocID="{0C28BC9E-73B5-4DC3-80F7-409B261A2B02}" presName="connectorText" presStyleLbl="sibTrans2D1" presStyleIdx="0" presStyleCnt="2"/>
      <dgm:spPr/>
    </dgm:pt>
    <dgm:pt modelId="{DB5B3C18-27D4-4F99-BA0C-4A17568A05B0}" type="pres">
      <dgm:prSet presAssocID="{576E78F5-2C1A-489F-B331-AA06D337DBDA}" presName="node" presStyleLbl="node1" presStyleIdx="1" presStyleCnt="3">
        <dgm:presLayoutVars>
          <dgm:bulletEnabled val="1"/>
        </dgm:presLayoutVars>
      </dgm:prSet>
      <dgm:spPr/>
    </dgm:pt>
    <dgm:pt modelId="{9A339B42-B521-4EEB-8BE5-073F65B5B026}" type="pres">
      <dgm:prSet presAssocID="{E4808B09-8AAC-4FAA-9DF2-D4C5C1BFC6AC}" presName="sibTrans" presStyleLbl="sibTrans2D1" presStyleIdx="1" presStyleCnt="2"/>
      <dgm:spPr/>
    </dgm:pt>
    <dgm:pt modelId="{7DECE3A3-D355-498B-8685-0537F63CC0BB}" type="pres">
      <dgm:prSet presAssocID="{E4808B09-8AAC-4FAA-9DF2-D4C5C1BFC6AC}" presName="connectorText" presStyleLbl="sibTrans2D1" presStyleIdx="1" presStyleCnt="2"/>
      <dgm:spPr/>
    </dgm:pt>
    <dgm:pt modelId="{CA53FA59-2C7E-421B-B440-40591DCCD046}" type="pres">
      <dgm:prSet presAssocID="{B6ACF22C-3E34-43DC-9AD4-08CE792B69FF}" presName="node" presStyleLbl="node1" presStyleIdx="2" presStyleCnt="3">
        <dgm:presLayoutVars>
          <dgm:bulletEnabled val="1"/>
        </dgm:presLayoutVars>
      </dgm:prSet>
      <dgm:spPr/>
    </dgm:pt>
  </dgm:ptLst>
  <dgm:cxnLst>
    <dgm:cxn modelId="{C429F160-EB84-4A5E-8A36-EA120ADF90A9}" srcId="{BBF0B7FB-DA3D-4DCD-92CE-5515BC2A0FEC}" destId="{576E78F5-2C1A-489F-B331-AA06D337DBDA}" srcOrd="1" destOrd="0" parTransId="{D8C6085D-61D3-4D5C-BA95-E1FCF6DB3669}" sibTransId="{E4808B09-8AAC-4FAA-9DF2-D4C5C1BFC6AC}"/>
    <dgm:cxn modelId="{7A2F1F64-AE8F-4C79-8EBC-6A441C67FF37}" type="presOf" srcId="{B6ACF22C-3E34-43DC-9AD4-08CE792B69FF}" destId="{CA53FA59-2C7E-421B-B440-40591DCCD046}" srcOrd="0" destOrd="0" presId="urn:microsoft.com/office/officeart/2005/8/layout/process1"/>
    <dgm:cxn modelId="{FCE2A644-0AB9-4B68-87B3-7A3D6256E365}" type="presOf" srcId="{E5C905EA-FF2D-46BF-8669-05EE1915E020}" destId="{18055A54-E558-4FD9-B50F-54AFFF322322}" srcOrd="0" destOrd="0" presId="urn:microsoft.com/office/officeart/2005/8/layout/process1"/>
    <dgm:cxn modelId="{ADF78C65-C934-47E5-8007-C3E6602B89AD}" type="presOf" srcId="{0C28BC9E-73B5-4DC3-80F7-409B261A2B02}" destId="{60FF4CD8-81DC-4905-ABD4-D43A800B49D3}" srcOrd="1" destOrd="0" presId="urn:microsoft.com/office/officeart/2005/8/layout/process1"/>
    <dgm:cxn modelId="{D050D46B-4982-4E4C-982F-BF1B258ED7DE}" type="presOf" srcId="{576E78F5-2C1A-489F-B331-AA06D337DBDA}" destId="{DB5B3C18-27D4-4F99-BA0C-4A17568A05B0}" srcOrd="0" destOrd="0" presId="urn:microsoft.com/office/officeart/2005/8/layout/process1"/>
    <dgm:cxn modelId="{14C2FF6D-2E8D-49C8-B6E7-FDEA7CBA72B4}" type="presOf" srcId="{E4808B09-8AAC-4FAA-9DF2-D4C5C1BFC6AC}" destId="{9A339B42-B521-4EEB-8BE5-073F65B5B026}" srcOrd="0" destOrd="0" presId="urn:microsoft.com/office/officeart/2005/8/layout/process1"/>
    <dgm:cxn modelId="{85FC786F-54B5-4F2C-8C7B-73B1DDE4A8DD}" srcId="{BBF0B7FB-DA3D-4DCD-92CE-5515BC2A0FEC}" destId="{B6ACF22C-3E34-43DC-9AD4-08CE792B69FF}" srcOrd="2" destOrd="0" parTransId="{D7B0D111-37E2-4F5D-9387-63304CEB7E31}" sibTransId="{EFDBE9CF-F2CF-4E16-ADD5-D68B0522DFBC}"/>
    <dgm:cxn modelId="{034ABEAF-0118-4CF6-84AA-06921497926F}" type="presOf" srcId="{0C28BC9E-73B5-4DC3-80F7-409B261A2B02}" destId="{EBE4062C-D33A-4911-BBF4-F1C1BC398585}" srcOrd="0" destOrd="0" presId="urn:microsoft.com/office/officeart/2005/8/layout/process1"/>
    <dgm:cxn modelId="{61657FBB-0A61-4E5B-A17F-8F77F3796A21}" type="presOf" srcId="{E4808B09-8AAC-4FAA-9DF2-D4C5C1BFC6AC}" destId="{7DECE3A3-D355-498B-8685-0537F63CC0BB}" srcOrd="1" destOrd="0" presId="urn:microsoft.com/office/officeart/2005/8/layout/process1"/>
    <dgm:cxn modelId="{E19266C1-4804-4D75-AAB6-80135145A043}" srcId="{BBF0B7FB-DA3D-4DCD-92CE-5515BC2A0FEC}" destId="{E5C905EA-FF2D-46BF-8669-05EE1915E020}" srcOrd="0" destOrd="0" parTransId="{4128E8CC-78AA-45B7-8BA1-82A2B49FD298}" sibTransId="{0C28BC9E-73B5-4DC3-80F7-409B261A2B02}"/>
    <dgm:cxn modelId="{BA7F15F3-E189-4B5A-8180-B59521C7CCC1}" type="presOf" srcId="{BBF0B7FB-DA3D-4DCD-92CE-5515BC2A0FEC}" destId="{2020DAA4-4895-4DA0-99CE-C0E1396164E7}" srcOrd="0" destOrd="0" presId="urn:microsoft.com/office/officeart/2005/8/layout/process1"/>
    <dgm:cxn modelId="{338370B7-3238-4AE8-9041-D2D3CE5F91B9}" type="presParOf" srcId="{2020DAA4-4895-4DA0-99CE-C0E1396164E7}" destId="{18055A54-E558-4FD9-B50F-54AFFF322322}" srcOrd="0" destOrd="0" presId="urn:microsoft.com/office/officeart/2005/8/layout/process1"/>
    <dgm:cxn modelId="{EE406F12-7009-4DD6-9066-39A93489C952}" type="presParOf" srcId="{2020DAA4-4895-4DA0-99CE-C0E1396164E7}" destId="{EBE4062C-D33A-4911-BBF4-F1C1BC398585}" srcOrd="1" destOrd="0" presId="urn:microsoft.com/office/officeart/2005/8/layout/process1"/>
    <dgm:cxn modelId="{87EA0840-EAF0-485A-8838-99B96B25F99F}" type="presParOf" srcId="{EBE4062C-D33A-4911-BBF4-F1C1BC398585}" destId="{60FF4CD8-81DC-4905-ABD4-D43A800B49D3}" srcOrd="0" destOrd="0" presId="urn:microsoft.com/office/officeart/2005/8/layout/process1"/>
    <dgm:cxn modelId="{C8294E1D-0F90-45CA-9752-49E4656A041D}" type="presParOf" srcId="{2020DAA4-4895-4DA0-99CE-C0E1396164E7}" destId="{DB5B3C18-27D4-4F99-BA0C-4A17568A05B0}" srcOrd="2" destOrd="0" presId="urn:microsoft.com/office/officeart/2005/8/layout/process1"/>
    <dgm:cxn modelId="{B06591FC-A74A-4A0B-9630-446D5DF222C4}" type="presParOf" srcId="{2020DAA4-4895-4DA0-99CE-C0E1396164E7}" destId="{9A339B42-B521-4EEB-8BE5-073F65B5B026}" srcOrd="3" destOrd="0" presId="urn:microsoft.com/office/officeart/2005/8/layout/process1"/>
    <dgm:cxn modelId="{20182BF0-EB1E-4F00-BCBE-3E79717A3C78}" type="presParOf" srcId="{9A339B42-B521-4EEB-8BE5-073F65B5B026}" destId="{7DECE3A3-D355-498B-8685-0537F63CC0BB}" srcOrd="0" destOrd="0" presId="urn:microsoft.com/office/officeart/2005/8/layout/process1"/>
    <dgm:cxn modelId="{8CD0CA1E-2CB9-4555-BC96-7DC246DA0B67}" type="presParOf" srcId="{2020DAA4-4895-4DA0-99CE-C0E1396164E7}" destId="{CA53FA59-2C7E-421B-B440-40591DCCD046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5A54-E558-4FD9-B50F-54AFFF322322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Selección del modelo .h5</a:t>
          </a:r>
          <a:endParaRPr lang="es-CL" sz="3100" kern="1200" dirty="0"/>
        </a:p>
      </dsp:txBody>
      <dsp:txXfrm>
        <a:off x="57787" y="1395494"/>
        <a:ext cx="2665308" cy="1560349"/>
      </dsp:txXfrm>
    </dsp:sp>
    <dsp:sp modelId="{EBE4062C-D33A-4911-BBF4-F1C1BC398585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500" kern="1200"/>
        </a:p>
      </dsp:txBody>
      <dsp:txXfrm>
        <a:off x="3047880" y="1970146"/>
        <a:ext cx="409940" cy="411044"/>
      </dsp:txXfrm>
    </dsp:sp>
    <dsp:sp modelId="{DB5B3C18-27D4-4F99-BA0C-4A17568A05B0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Definición de un </a:t>
          </a:r>
          <a:r>
            <a:rPr lang="es-MX" sz="3100" kern="1200" dirty="0" err="1"/>
            <a:t>dataset</a:t>
          </a:r>
          <a:r>
            <a:rPr lang="es-MX" sz="3100" kern="1200" dirty="0"/>
            <a:t> representativo</a:t>
          </a:r>
          <a:endParaRPr lang="es-CL" sz="3100" kern="1200" dirty="0"/>
        </a:p>
      </dsp:txBody>
      <dsp:txXfrm>
        <a:off x="3925145" y="1395494"/>
        <a:ext cx="2665308" cy="1560349"/>
      </dsp:txXfrm>
    </dsp:sp>
    <dsp:sp modelId="{9A339B42-B521-4EEB-8BE5-073F65B5B026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CL" sz="2500" kern="1200"/>
        </a:p>
      </dsp:txBody>
      <dsp:txXfrm>
        <a:off x="6915239" y="1970146"/>
        <a:ext cx="409940" cy="411044"/>
      </dsp:txXfrm>
    </dsp:sp>
    <dsp:sp modelId="{CA53FA59-2C7E-421B-B440-40591DCCD046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 dirty="0"/>
            <a:t>Conversión de pesos</a:t>
          </a:r>
          <a:endParaRPr lang="es-CL" sz="3100" kern="1200" dirty="0"/>
        </a:p>
      </dsp:txBody>
      <dsp:txXfrm>
        <a:off x="7792503" y="1395494"/>
        <a:ext cx="2665308" cy="15603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01-07-2025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Los ganadores de la competencia alcanzaron r = 0.46, lo que yo entrené para el primer sujeto alcanzó r=0.29, que sería como el tercer lugar en 2008</a:t>
            </a:r>
          </a:p>
          <a:p>
            <a:r>
              <a:rPr lang="es-CL" dirty="0"/>
              <a:t>De estos, los más interesantes son CNN-LSTM, porque la misma CNN se encarga de extraer las características, así que no sería necesario  calcular a mano la matriz R y además las entradas deberían ser menos, porque tanto las relaciones inter canal como las temporales son obtenidas por la CNN y la LSTM respectivamente. Aún así, esta no recibe las señales directamente, sino bandas de frecuencia si mal no recuerdo</a:t>
            </a:r>
          </a:p>
          <a:p>
            <a:endParaRPr lang="es-CL" dirty="0"/>
          </a:p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4B825C-5DE0-4FF2-AFFB-82B5D3F5D8C1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35446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01-07-2025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01-07-2025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01-07-2025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01-07-2025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01-07-2025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01-07-2025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01-07-2025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01-07-2025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01-07-2025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01-07-2025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01-07-2025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01-07-2025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5380EBC-B826-A61B-0F0C-638548E31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Evaluación </a:t>
            </a:r>
            <a:r>
              <a:rPr lang="es-MX" dirty="0" err="1"/>
              <a:t>Hello</a:t>
            </a:r>
            <a:r>
              <a:rPr lang="es-MX" dirty="0"/>
              <a:t> </a:t>
            </a:r>
            <a:r>
              <a:rPr lang="es-MX" dirty="0" err="1"/>
              <a:t>World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C8D6987-CD63-9D57-0992-308AD9B5E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Cuantización post entrenamiento, solo pesos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C1FC7B4-CE0B-8208-F07A-38072CD27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467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</a:t>
            </a:r>
            <a:r>
              <a:rPr lang="es-MX" dirty="0" err="1"/>
              <a:t>post-entrenamiento</a:t>
            </a:r>
            <a:endParaRPr lang="es-CL" dirty="0"/>
          </a:p>
        </p:txBody>
      </p:sp>
      <p:graphicFrame>
        <p:nvGraphicFramePr>
          <p:cNvPr id="9" name="Marcador de contenido 8">
            <a:extLst>
              <a:ext uri="{FF2B5EF4-FFF2-40B4-BE49-F238E27FC236}">
                <a16:creationId xmlns:a16="http://schemas.microsoft.com/office/drawing/2014/main" id="{39727CB2-874E-847D-7599-8711368EBA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305104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18552-88C4-4BDF-F175-77744CD5D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B973051-5417-891E-A5A6-68ED9F9C73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9337" y="1825625"/>
            <a:ext cx="9233326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663559-4E75-25E7-8A1D-BEC209F7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78492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B229094A-7118-0EEF-0EE9-DE3D4C036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entre cuantizaciones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59C022C4-0AE0-63F1-EEDE-A68DDA409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int8</a:t>
            </a:r>
            <a:endParaRPr lang="es-CL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C56BA8DE-2E86-409F-F6AB-4313DCD4A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solo pesos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74CA58-D465-2352-0482-03D7391E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  <p:pic>
        <p:nvPicPr>
          <p:cNvPr id="15" name="Marcador de contenido 5">
            <a:extLst>
              <a:ext uri="{FF2B5EF4-FFF2-40B4-BE49-F238E27FC236}">
                <a16:creationId xmlns:a16="http://schemas.microsoft.com/office/drawing/2014/main" id="{C0FFA249-0D73-F84D-228B-10026BF046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41840"/>
          <a:stretch>
            <a:fillRect/>
          </a:stretch>
        </p:blipFill>
        <p:spPr>
          <a:xfrm>
            <a:off x="549403" y="2505075"/>
            <a:ext cx="5157787" cy="4152118"/>
          </a:xfrm>
          <a:prstGeom prst="rect">
            <a:avLst/>
          </a:prstGeom>
        </p:spPr>
      </p:pic>
      <p:pic>
        <p:nvPicPr>
          <p:cNvPr id="19" name="Marcador de contenido 5">
            <a:extLst>
              <a:ext uri="{FF2B5EF4-FFF2-40B4-BE49-F238E27FC236}">
                <a16:creationId xmlns:a16="http://schemas.microsoft.com/office/drawing/2014/main" id="{B7AE52CB-A701-6C3B-6BD7-206121E8A1F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r="42667"/>
          <a:stretch>
            <a:fillRect/>
          </a:stretch>
        </p:blipFill>
        <p:spPr>
          <a:xfrm>
            <a:off x="6522499" y="2473902"/>
            <a:ext cx="4851470" cy="398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1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9F9692C-10F5-6363-517D-49680FF95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DBE482BE-F6C7-B15E-9416-C9BC458A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4AB6E04B-FCC3-7959-9925-372C06F30F9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6288" y="2505075"/>
            <a:ext cx="4084786" cy="3684588"/>
          </a:xfrm>
          <a:prstGeom prst="rect">
            <a:avLst/>
          </a:prstGeom>
        </p:spPr>
      </p:pic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FFBF1F4-E6C8-B3B1-B922-AF21B2EEB6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(solo pesos)</a:t>
            </a:r>
            <a:endParaRPr lang="es-CL" dirty="0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75439AB-1020-AC25-97D7-65A11146E43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76411" y="2505075"/>
            <a:ext cx="3974766" cy="368458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C60300-8C8A-DFA0-D1FA-C9E33D2B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5140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01E4E-BACC-AC47-BEE7-CE155C84D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CC5D22BF-B64D-D73B-8E10-BE63CFA1F1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51595"/>
            <a:ext cx="11928357" cy="6469880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7E27DC-7B31-06B7-615A-1500B87D0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99014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F165148A-D297-9CCC-2F8D-132099495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Error cuadrático medio</a:t>
            </a:r>
            <a:endParaRPr lang="es-CL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Marcador de contenido 8">
                <a:extLst>
                  <a:ext uri="{FF2B5EF4-FFF2-40B4-BE49-F238E27FC236}">
                    <a16:creationId xmlns:a16="http://schemas.microsoft.com/office/drawing/2014/main" id="{D04AC09F-D85A-ADBE-5F5C-A882B719FA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𝑚𝑠𝑒</m:t>
                      </m:r>
                      <m:r>
                        <a:rPr lang="es-MX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d>
                                  <m:r>
                                    <a:rPr lang="es-MX" b="0" i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es-MX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s-MX" b="0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s-MX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s-MX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es-MX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s-MX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s-MX" dirty="0"/>
              </a:p>
              <a:p>
                <a:endParaRPr lang="es-MX" dirty="0"/>
              </a:p>
              <a:p>
                <a:r>
                  <a:rPr lang="es-MX" dirty="0"/>
                  <a:t>MSE_Modelo_float32 = 0.0011957992752436959</a:t>
                </a:r>
              </a:p>
              <a:p>
                <a:r>
                  <a:rPr lang="es-MX" dirty="0"/>
                  <a:t>MSE_Modelo_int8_(pesos) = 0.003288795185789242</a:t>
                </a:r>
              </a:p>
              <a:p>
                <a:pPr marL="0" indent="0">
                  <a:buNone/>
                </a:pPr>
                <a:endParaRPr lang="es-CL" dirty="0"/>
              </a:p>
            </p:txBody>
          </p:sp>
        </mc:Choice>
        <mc:Fallback xmlns="">
          <p:sp>
            <p:nvSpPr>
              <p:cNvPr id="9" name="Marcador de contenido 8">
                <a:extLst>
                  <a:ext uri="{FF2B5EF4-FFF2-40B4-BE49-F238E27FC236}">
                    <a16:creationId xmlns:a16="http://schemas.microsoft.com/office/drawing/2014/main" id="{D04AC09F-D85A-ADBE-5F5C-A882B719FA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s-C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E731D4-4349-317F-77C9-F42444E72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7366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4F5E7BD-962D-DA51-ADB2-ABFE7CFEB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Finger</a:t>
            </a:r>
            <a:r>
              <a:rPr lang="es-MX" dirty="0"/>
              <a:t> Flex NN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53CDEC60-12C4-A108-F95A-C01925EB5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Opciones y cuantización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80BAE6-42E8-F8FE-4E5D-91897B1FE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731448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BAFF7267-0AEA-A09A-D4FC-9690945F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Papers</a:t>
            </a:r>
            <a:r>
              <a:rPr lang="es-MX" dirty="0"/>
              <a:t> </a:t>
            </a:r>
            <a:r>
              <a:rPr lang="es-MX" dirty="0" err="1"/>
              <a:t>with</a:t>
            </a:r>
            <a:r>
              <a:rPr lang="es-MX" dirty="0"/>
              <a:t> </a:t>
            </a:r>
            <a:r>
              <a:rPr lang="es-MX" dirty="0" err="1"/>
              <a:t>Code</a:t>
            </a:r>
            <a:endParaRPr lang="es-CL" dirty="0"/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73FD4816-1ADB-A286-6A22-93453929CC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97340" y="1825625"/>
            <a:ext cx="8397319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AAA09B-11F8-B726-2E3E-F738421E7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1788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407CC3-EE7C-5D40-3E96-E70A58C21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FingerFlex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311FA21-6F73-1132-7C47-EC4E48DE7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9B47543-ED2D-461E-8250-4200DFF84A65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A94BD69-826A-D149-EE86-A3FF52C69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5628" y="3795302"/>
            <a:ext cx="5067631" cy="2428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8C7FC0B-50D6-9F7A-B315-A84A9D1D02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443" y="2262693"/>
            <a:ext cx="6155493" cy="2746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0407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53D3CA-7FC0-214C-AC3F-E66C1E005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82445" cy="1325563"/>
          </a:xfrm>
        </p:spPr>
        <p:txBody>
          <a:bodyPr>
            <a:normAutofit fontScale="90000"/>
          </a:bodyPr>
          <a:lstStyle/>
          <a:p>
            <a:r>
              <a:rPr lang="en-US" sz="5200" dirty="0"/>
              <a:t>Finger Flexion Detection using </a:t>
            </a:r>
            <a:r>
              <a:rPr lang="en-US" sz="5200" dirty="0" err="1"/>
              <a:t>ECoG</a:t>
            </a:r>
            <a:r>
              <a:rPr lang="en-US" sz="5200" dirty="0"/>
              <a:t> signals</a:t>
            </a:r>
            <a:endParaRPr lang="es-CL" sz="52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7A37C7-1DCF-B429-B3D4-7EAC422D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13</a:t>
            </a:fld>
            <a:endParaRPr lang="es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4244C3B-5284-0F82-A6F9-63EB6AF623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667" y="1847850"/>
            <a:ext cx="37896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933A8FF-887C-7E24-05BA-60FF4E01EE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675" y="0"/>
            <a:ext cx="20068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359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97DE3A-30FE-11B7-A53F-B10ECD315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Model_s2f1, sin cuantizar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9A217954-C58D-46A4-7DD8-32CE923A0E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9203" y="1847850"/>
            <a:ext cx="7900473" cy="435133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759A70-C72F-5E55-1CD2-59E64857D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14</a:t>
            </a:fld>
            <a:endParaRPr lang="es-CL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AE4F883-786B-0082-66D8-A7A37E966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63" y="4194877"/>
            <a:ext cx="3465071" cy="1325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344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199A5C-2726-05B2-FD7C-7172E3328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Model_s2f1, cuantizado int8</a:t>
            </a:r>
            <a:endParaRPr lang="es-CL" dirty="0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DEEE71B1-66CF-99D5-3AC8-52C3DEC98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53920"/>
            <a:ext cx="7830913" cy="4045268"/>
          </a:xfr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B8490C7-21BF-1FDD-272A-E8F7FDBA0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15</a:t>
            </a:fld>
            <a:endParaRPr lang="es-CL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C93190B-C19E-C3A0-C4AC-3D652A53C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612" y="3824169"/>
            <a:ext cx="3639175" cy="114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613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B2C90-4093-2C44-F77E-13B0FFDE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4616302-BA73-D737-A8B1-F42AAC9F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72413E-D5F8-F5F1-B8E4-5E42CECEE1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29A407B7-CA8B-3B63-175D-C34004E0E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(solo pesos)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61D48-2CAD-4BD8-182E-C866F5655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16</a:t>
            </a:fld>
            <a:endParaRPr lang="es-CL"/>
          </a:p>
        </p:txBody>
      </p:sp>
      <p:pic>
        <p:nvPicPr>
          <p:cNvPr id="11" name="Marcador de contenido 5">
            <a:extLst>
              <a:ext uri="{FF2B5EF4-FFF2-40B4-BE49-F238E27FC236}">
                <a16:creationId xmlns:a16="http://schemas.microsoft.com/office/drawing/2014/main" id="{03494B9A-3AF1-96FF-D1F9-75025CA29D9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37265"/>
          <a:stretch>
            <a:fillRect/>
          </a:stretch>
        </p:blipFill>
        <p:spPr>
          <a:xfrm>
            <a:off x="1320229" y="2505075"/>
            <a:ext cx="4196904" cy="3684588"/>
          </a:xfrm>
          <a:prstGeom prst="rect">
            <a:avLst/>
          </a:prstGeom>
        </p:spPr>
      </p:pic>
      <p:pic>
        <p:nvPicPr>
          <p:cNvPr id="16" name="Marcador de contenido 5">
            <a:extLst>
              <a:ext uri="{FF2B5EF4-FFF2-40B4-BE49-F238E27FC236}">
                <a16:creationId xmlns:a16="http://schemas.microsoft.com/office/drawing/2014/main" id="{052A9977-CE41-1E28-9213-E9911AC0E20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rcRect r="40820"/>
          <a:stretch>
            <a:fillRect/>
          </a:stretch>
        </p:blipFill>
        <p:spPr>
          <a:xfrm>
            <a:off x="6653228" y="2505075"/>
            <a:ext cx="4221132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1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34B0D-2DD5-9427-6E4A-460A36A7A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DE5A06-2365-5D4B-E3C2-AF15ABBA4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482445" cy="1325563"/>
          </a:xfrm>
        </p:spPr>
        <p:txBody>
          <a:bodyPr>
            <a:normAutofit fontScale="90000"/>
          </a:bodyPr>
          <a:lstStyle/>
          <a:p>
            <a:r>
              <a:rPr lang="en-US" sz="5200" dirty="0"/>
              <a:t>Finger Flexion Detection using </a:t>
            </a:r>
            <a:r>
              <a:rPr lang="en-US" sz="5200" dirty="0" err="1"/>
              <a:t>ECoG</a:t>
            </a:r>
            <a:r>
              <a:rPr lang="en-US" sz="5200" dirty="0"/>
              <a:t> signals</a:t>
            </a:r>
            <a:endParaRPr lang="es-CL" sz="520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FC93749-528B-2F19-3EE8-FD233DB5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17</a:t>
            </a:fld>
            <a:endParaRPr lang="es-C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8AE12-33A0-66F8-591D-B2768CD21F2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3667" y="1847850"/>
            <a:ext cx="37896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5CD958F-74C4-509F-5FD1-1DCF4DED5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0"/>
            <a:ext cx="3034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6187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7B36D-BD76-80BB-0410-718AF8DCE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7A3F51C2-4D27-3496-B110-43EBD395B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modelo anterior y modelo nuevo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09D92CBD-FDCD-00AF-29BE-605169C9A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Modelo anterior (float32)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3F7E67E4-33CF-51A4-6F7E-E60CCBFF98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Modelo nuevo (float32)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59F788-753D-ECB9-1B14-988B3C7FF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18</a:t>
            </a:fld>
            <a:endParaRPr lang="es-CL"/>
          </a:p>
        </p:txBody>
      </p:sp>
      <p:pic>
        <p:nvPicPr>
          <p:cNvPr id="11" name="Marcador de contenido 5">
            <a:extLst>
              <a:ext uri="{FF2B5EF4-FFF2-40B4-BE49-F238E27FC236}">
                <a16:creationId xmlns:a16="http://schemas.microsoft.com/office/drawing/2014/main" id="{84E549F1-BAEB-D338-F609-B3AB5094C4F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r="37265"/>
          <a:stretch>
            <a:fillRect/>
          </a:stretch>
        </p:blipFill>
        <p:spPr>
          <a:xfrm>
            <a:off x="1320229" y="2505075"/>
            <a:ext cx="4196904" cy="3684588"/>
          </a:xfrm>
          <a:prstGeom prst="rect">
            <a:avLst/>
          </a:prstGeom>
        </p:spPr>
      </p:pic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DA793555-CB18-4697-FC66-6705AA5CD93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658710" y="2505075"/>
            <a:ext cx="4210167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90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78C09-0241-3EB1-1DF6-67F39B650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98F19548-4E49-E79C-F153-7A051891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precisión completa y cuantizada del modelo nuevo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8E5A968B-9D33-38AA-76E9-9FFA9022D0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float32 (nuevo)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65C13AE6-97B2-9770-5867-8D4E0FB48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(nuevo)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6B9BF5-042F-4691-E3CD-7EEDA3F57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19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1931B3EE-A5D8-AA60-C5AF-C49D8A32C2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13598" y="2505075"/>
            <a:ext cx="4210167" cy="3684588"/>
          </a:xfrm>
          <a:prstGeom prst="rect">
            <a:avLst/>
          </a:prstGeom>
        </p:spPr>
      </p:pic>
      <p:pic>
        <p:nvPicPr>
          <p:cNvPr id="14" name="Marcador de contenido 13">
            <a:extLst>
              <a:ext uri="{FF2B5EF4-FFF2-40B4-BE49-F238E27FC236}">
                <a16:creationId xmlns:a16="http://schemas.microsoft.com/office/drawing/2014/main" id="{75951500-FE11-C5BF-0E1D-9124EA1AC79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769265" y="2505075"/>
            <a:ext cx="3989057" cy="3684588"/>
          </a:xfrm>
        </p:spPr>
      </p:pic>
    </p:spTree>
    <p:extLst>
      <p:ext uri="{BB962C8B-B14F-4D97-AF65-F5344CB8AC3E}">
        <p14:creationId xmlns:p14="http://schemas.microsoft.com/office/powerpoint/2010/main" val="37071868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9801-3D4A-6063-824A-2FFFA37B6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6C477922-27A7-2EEC-4144-75AAE5F80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modelo para sujeto 1 y 2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8191424-F87B-9288-9C74-E8422518D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Sujeto 1 (int8)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C84B2838-67D8-519F-5797-7279ECB2A0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int8 (nuevo)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1B924EA-E9EA-724A-1141-1EF38F4F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20</a:t>
            </a:fld>
            <a:endParaRPr lang="es-CL"/>
          </a:p>
        </p:txBody>
      </p:sp>
      <p:pic>
        <p:nvPicPr>
          <p:cNvPr id="13" name="Marcador de contenido 12">
            <a:extLst>
              <a:ext uri="{FF2B5EF4-FFF2-40B4-BE49-F238E27FC236}">
                <a16:creationId xmlns:a16="http://schemas.microsoft.com/office/drawing/2014/main" id="{1B0A4F5B-10F6-1012-0DEA-607EAFD8623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765553" y="2505075"/>
            <a:ext cx="3996482" cy="3684588"/>
          </a:xfrm>
        </p:spPr>
      </p:pic>
      <p:pic>
        <p:nvPicPr>
          <p:cNvPr id="11" name="Marcador de contenido 13">
            <a:extLst>
              <a:ext uri="{FF2B5EF4-FFF2-40B4-BE49-F238E27FC236}">
                <a16:creationId xmlns:a16="http://schemas.microsoft.com/office/drawing/2014/main" id="{282D7FC7-7702-9004-8761-1EEF87186CF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424153" y="2505075"/>
            <a:ext cx="3989057" cy="3684588"/>
          </a:xfrm>
        </p:spPr>
      </p:pic>
    </p:spTree>
    <p:extLst>
      <p:ext uri="{BB962C8B-B14F-4D97-AF65-F5344CB8AC3E}">
        <p14:creationId xmlns:p14="http://schemas.microsoft.com/office/powerpoint/2010/main" val="25513492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81392-82CB-18B4-3AC7-E4DB3E96F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0C8EE0DD-B3C7-5F6C-1946-DB9303751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55"/>
            <a:ext cx="10515600" cy="1325563"/>
          </a:xfrm>
        </p:spPr>
        <p:txBody>
          <a:bodyPr/>
          <a:lstStyle/>
          <a:p>
            <a:r>
              <a:rPr lang="es-MX" dirty="0"/>
              <a:t>Comparación modelo para sujeto 1 y 2</a:t>
            </a: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150D8D82-D5AC-5BFB-3BF0-1734AD992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8679" y="1024876"/>
            <a:ext cx="5157787" cy="823912"/>
          </a:xfrm>
        </p:spPr>
        <p:txBody>
          <a:bodyPr/>
          <a:lstStyle/>
          <a:p>
            <a:r>
              <a:rPr lang="es-MX" dirty="0"/>
              <a:t>Sujeto 1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5FE81B83-AAFC-F33E-6074-062B2C09B9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2" y="1024876"/>
            <a:ext cx="5183188" cy="823912"/>
          </a:xfrm>
        </p:spPr>
        <p:txBody>
          <a:bodyPr/>
          <a:lstStyle/>
          <a:p>
            <a:r>
              <a:rPr lang="es-MX" dirty="0"/>
              <a:t>Sujeto 2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72182D-2A8D-36CC-DE2D-C9C6336D5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21</a:t>
            </a:fld>
            <a:endParaRPr lang="es-CL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31DB2360-3636-EBFD-7B25-27C3A9AD0C5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652154" y="1217064"/>
            <a:ext cx="2435455" cy="550441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BF280F4-9026-F40A-3C92-D28018FD8E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1320" y="1217064"/>
            <a:ext cx="2509133" cy="5504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325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32BE6-05B4-09BD-5C70-4E0BFEC3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797B61BB-D8E7-502B-3B06-BD3574382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 dirty="0"/>
              <a:t>Uso de memoria para los 5 dedos del sujeto 1 y 2</a:t>
            </a:r>
            <a:br>
              <a:rPr lang="es-MX" dirty="0"/>
            </a:br>
            <a:endParaRPr lang="es-C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745D5F53-452E-BE09-45EF-C345172DF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Sujeto 1</a:t>
            </a:r>
            <a:endParaRPr lang="es-CL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B3FAD54D-A1ED-1A93-6B9A-51061EF610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MX" dirty="0"/>
              <a:t>Sujeto 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903B364-57CF-8247-A9AB-93115DA9E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22</a:t>
            </a:fld>
            <a:endParaRPr lang="es-CL"/>
          </a:p>
        </p:txBody>
      </p:sp>
      <p:pic>
        <p:nvPicPr>
          <p:cNvPr id="7" name="Marcador de contenido 5">
            <a:extLst>
              <a:ext uri="{FF2B5EF4-FFF2-40B4-BE49-F238E27FC236}">
                <a16:creationId xmlns:a16="http://schemas.microsoft.com/office/drawing/2014/main" id="{863B68F4-9B5F-4250-A4E3-08DF7176768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5879" y="3265769"/>
            <a:ext cx="4960541" cy="2030720"/>
          </a:xfrm>
          <a:prstGeom prst="rect">
            <a:avLst/>
          </a:prstGeom>
        </p:spPr>
      </p:pic>
      <p:pic>
        <p:nvPicPr>
          <p:cNvPr id="15" name="Marcador de contenido 14">
            <a:extLst>
              <a:ext uri="{FF2B5EF4-FFF2-40B4-BE49-F238E27FC236}">
                <a16:creationId xmlns:a16="http://schemas.microsoft.com/office/drawing/2014/main" id="{721FD691-39AF-7CD2-4C07-244152E3D7D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5986264" y="3317500"/>
            <a:ext cx="5555059" cy="1978989"/>
          </a:xfrm>
        </p:spPr>
      </p:pic>
      <p:sp>
        <p:nvSpPr>
          <p:cNvPr id="16" name="Marcador de texto 8">
            <a:extLst>
              <a:ext uri="{FF2B5EF4-FFF2-40B4-BE49-F238E27FC236}">
                <a16:creationId xmlns:a16="http://schemas.microsoft.com/office/drawing/2014/main" id="{7CD5436A-033D-F7D1-3AF8-EE7D8A1835B4}"/>
              </a:ext>
            </a:extLst>
          </p:cNvPr>
          <p:cNvSpPr txBox="1">
            <a:spLocks/>
          </p:cNvSpPr>
          <p:nvPr/>
        </p:nvSpPr>
        <p:spPr>
          <a:xfrm>
            <a:off x="4324820" y="5668963"/>
            <a:ext cx="2743200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dirty="0"/>
              <a:t>RAM total: 128KiB</a:t>
            </a:r>
          </a:p>
          <a:p>
            <a:r>
              <a:rPr lang="es-MX" dirty="0"/>
              <a:t>Flash total: 1024KiB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523398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9AB0CD-461A-85CA-6D85-80D578ABE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A08BCD-E184-33F4-267B-6208FCAE65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100754F-F9E1-21F8-26F7-6339562859C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17E75EA-8371-C63D-CF85-056D09749E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8451E4A-9747-69B0-D836-7849CC69617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59E9C2D-5D10-900D-3E3F-9174CB9CB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779604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4826</TotalTime>
  <Words>342</Words>
  <Application>Microsoft Office PowerPoint</Application>
  <PresentationFormat>Panorámica</PresentationFormat>
  <Paragraphs>74</Paragraphs>
  <Slides>23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Cambria Math</vt:lpstr>
      <vt:lpstr>Tema de Office</vt:lpstr>
      <vt:lpstr>Edge Computing para Control Biónico con Señales Cerebrales</vt:lpstr>
      <vt:lpstr>Evaluación Hello World</vt:lpstr>
      <vt:lpstr>Cuantización post-entrenamiento</vt:lpstr>
      <vt:lpstr>int8 en STM32</vt:lpstr>
      <vt:lpstr>Int8 solo pesos</vt:lpstr>
      <vt:lpstr>Comparación entre cuantizaciones</vt:lpstr>
      <vt:lpstr>Comparación precisión completa y cuantizada</vt:lpstr>
      <vt:lpstr>Presentación de PowerPoint</vt:lpstr>
      <vt:lpstr>Error cuadrático medio</vt:lpstr>
      <vt:lpstr>Finger Flex NN</vt:lpstr>
      <vt:lpstr>Papers with Code</vt:lpstr>
      <vt:lpstr>FingerFlex</vt:lpstr>
      <vt:lpstr>Finger Flexion Detection using ECoG signals</vt:lpstr>
      <vt:lpstr>Model_s2f1, sin cuantizar</vt:lpstr>
      <vt:lpstr>Model_s2f1, cuantizado int8</vt:lpstr>
      <vt:lpstr>Comparación precisión completa y cuantizada</vt:lpstr>
      <vt:lpstr>Finger Flexion Detection using ECoG signals</vt:lpstr>
      <vt:lpstr>Comparación modelo anterior y modelo nuevo</vt:lpstr>
      <vt:lpstr>Comparación precisión completa y cuantizada del modelo nuevo</vt:lpstr>
      <vt:lpstr>Comparación modelo para sujeto 1 y 2</vt:lpstr>
      <vt:lpstr>Comparación modelo para sujeto 1 y 2</vt:lpstr>
      <vt:lpstr>Uso de memoria para los 5 dedos del sujeto 1 y 2 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15</cp:revision>
  <dcterms:created xsi:type="dcterms:W3CDTF">2025-04-15T15:04:39Z</dcterms:created>
  <dcterms:modified xsi:type="dcterms:W3CDTF">2025-07-03T20:28:25Z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